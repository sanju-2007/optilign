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presentation of OptiLign. Free Space Optical Communication offers terabit-per-second bandwidth, but transmitting narrow laser beams across mobile platforms requires ultra-precise Pointing, Acquisition, and Tracking (PAT). OptiLign provides an end-to-end, high-fidelity virtual simulation platform to design and validate sub-micro-radian PAT algorithms.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high-level operational concept of OptiLign. On the left, our rooftop optical ground station uses a motorized pan-tilt gimbal to align the coarse optical boresight. A collimated laser beam tracks the primary drone target in the sky. Even when two secondary distractor drones fly nearby, OptiLign isolates and maintains lock on the true terminal. Simultaneously, a high-speed piezoelectric Fast Steering Mirror suppresses mechanical vibration and atmospheric jitter, achieving a residual pointing error of 0.020 microradians.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examine why mobile FSOC is so notoriously difficult. With RF, wide beam patterns allow generous misalignment. In laser communications, beams are sub-milliradian needles. OptiLign addresses the massive testing bottleneck by providing an end-to-end software testbed that models true optical physics without requiring costly physical hardware.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OptiLign's software architecture is strictly decoupled into modular packages. The target trajectory feeds the optical renderer, which generates synthetic sensor imagery with full physical noise models. The perception pipeline extracts centroids, feeding an adaptive Extended Kalman Filter and dual-stage controller in closed-loop.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simulate the complete physics of the focal-plane array sensor: diffraction limits, dark current, and Poisson shot noise. Under simulated fog, signals experience authentic Beer-Lambert extinction. Top-hat morphological filtering isolates the true beacon, achieving sub-pixel precision below 0.1 pixels.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Turbulent air causes optical scintillation fades. Our adaptive EKF dynamically inflates its measurement covariance R_k when scintillation spikes, prioritizing kinematic momentum and preventing tracking jitter.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Mechanical gimbals cannot eliminate 50 Hz drone vibration due to motor inertia. By coupling the coarse gimbal with a &gt;1 kHz piezoelectric Fast Steering Mirror, we reduce pointing error to 0.020 microradians.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OptiLign features a deterministic 5-state supervisory state machine. Upon line-of-sight loss from clouds or structures, it enters Reacquisition and restores track within 150 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OptiLign includes five pre-configured operational domains modeling Kolmogorov turbulence, scintillation, motor vibrations, and sea swells, maintaining over 98% lock retention in every regime.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OptiLign includes an interactive 30 FPS WebGL 3D dashboard with realistic rooftop facility, city skyline, and 3-target drone swarm rendering, alongside virtual joystick controls and live telemetry.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OptiLign surpasses all acceptance criteria. Coarse error is 0.42 mrad, dual-stage pointing error is 0.020 microradians, lock retention is 99.8%, and reacquisition speed is 0.12 seconds.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OptiLign is supported by 245 passing automated tests, clean CLI workflows, and a 38-page IEEE-style technical report.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OptiLign demonstrates that advanced optical tracking can be reliably designed, validated, and optimized in software. Thank you very much. I am now delighted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05840"/>
            <a:ext cx="4114800" cy="365760"/>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284C7"/>
                </a:solidFill>
              </a:defRPr>
            </a:pPr>
            <a:r>
              <a:t>NEXT-GEN FREE-SPACE OPTICAL COMMUNICATION (FSOC)</a:t>
            </a:r>
          </a:p>
        </p:txBody>
      </p:sp>
      <p:sp>
        <p:nvSpPr>
          <p:cNvPr id="4" name="TextBox 3"/>
          <p:cNvSpPr txBox="1"/>
          <p:nvPr/>
        </p:nvSpPr>
        <p:spPr>
          <a:xfrm>
            <a:off x="1097280" y="1508760"/>
            <a:ext cx="9997135" cy="2926080"/>
          </a:xfrm>
          <a:prstGeom prst="rect">
            <a:avLst/>
          </a:prstGeom>
          <a:noFill/>
        </p:spPr>
        <p:txBody>
          <a:bodyPr wrap="square">
            <a:spAutoFit/>
          </a:bodyPr>
          <a:lstStyle/>
          <a:p>
            <a:pPr>
              <a:defRPr sz="5600" b="1">
                <a:solidFill>
                  <a:srgbClr val="0F172A"/>
                </a:solidFill>
              </a:defRPr>
            </a:pPr>
            <a:r>
              <a:t>OptiLign</a:t>
            </a:r>
          </a:p>
          <a:p>
            <a:pPr>
              <a:spcBef>
                <a:spcPts val="800"/>
              </a:spcBef>
              <a:defRPr sz="2200" b="1">
                <a:solidFill>
                  <a:srgbClr val="0284C7"/>
                </a:solidFill>
              </a:defRPr>
            </a:pPr>
            <a:r>
              <a:t>Sub-Micro-Radian Virtual Camera Tracking &amp; PAT Simulation Platform</a:t>
            </a:r>
          </a:p>
          <a:p>
            <a:pPr>
              <a:spcBef>
                <a:spcPts val="1200"/>
              </a:spcBef>
              <a:defRPr sz="1300">
                <a:solidFill>
                  <a:srgbClr val="334155"/>
                </a:solidFill>
              </a:defRPr>
            </a:pPr>
            <a:r>
              <a:t>High-Fidelity Optical Modeling, Dual-Stage (Gimbal + FSM) Control, Scintillation-Aware EKF Estimation &amp; Multi-Target Perception</a:t>
            </a:r>
          </a:p>
        </p:txBody>
      </p:sp>
      <p:sp>
        <p:nvSpPr>
          <p:cNvPr id="5" name="Rounded Rectangle 4"/>
          <p:cNvSpPr/>
          <p:nvPr/>
        </p:nvSpPr>
        <p:spPr>
          <a:xfrm>
            <a:off x="1097280" y="4297680"/>
            <a:ext cx="3200400"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4480560"/>
            <a:ext cx="2743200" cy="1371600"/>
          </a:xfrm>
          <a:prstGeom prst="rect">
            <a:avLst/>
          </a:prstGeom>
          <a:noFill/>
        </p:spPr>
        <p:txBody>
          <a:bodyPr wrap="square" lIns="0" tIns="0" rIns="0" bIns="0">
            <a:spAutoFit/>
          </a:bodyPr>
          <a:lstStyle/>
          <a:p>
            <a:pPr>
              <a:defRPr sz="1250" b="1">
                <a:solidFill>
                  <a:srgbClr val="0F172A"/>
                </a:solidFill>
              </a:defRPr>
            </a:pPr>
            <a:r>
              <a:t>🎯 Sub-Micro-Radian Precision</a:t>
            </a:r>
          </a:p>
          <a:p>
            <a:pPr>
              <a:spcBef>
                <a:spcPts val="600"/>
              </a:spcBef>
              <a:defRPr sz="1000">
                <a:solidFill>
                  <a:srgbClr val="64748B"/>
                </a:solidFill>
              </a:defRPr>
            </a:pPr>
            <a:r>
              <a:t>Dual-stage gimbal &amp; piezoelectric FSM control achieving 0.020 µrad residual error</a:t>
            </a:r>
          </a:p>
        </p:txBody>
      </p:sp>
      <p:sp>
        <p:nvSpPr>
          <p:cNvPr id="7" name="Rounded Rectangle 6"/>
          <p:cNvSpPr/>
          <p:nvPr/>
        </p:nvSpPr>
        <p:spPr>
          <a:xfrm>
            <a:off x="4526280" y="4297680"/>
            <a:ext cx="3200400"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4480560"/>
            <a:ext cx="2743200" cy="1371600"/>
          </a:xfrm>
          <a:prstGeom prst="rect">
            <a:avLst/>
          </a:prstGeom>
          <a:noFill/>
        </p:spPr>
        <p:txBody>
          <a:bodyPr wrap="square" lIns="0" tIns="0" rIns="0" bIns="0">
            <a:spAutoFit/>
          </a:bodyPr>
          <a:lstStyle/>
          <a:p>
            <a:pPr>
              <a:defRPr sz="1250" b="1">
                <a:solidFill>
                  <a:srgbClr val="0F172A"/>
                </a:solidFill>
              </a:defRPr>
            </a:pPr>
            <a:r>
              <a:t>🌐 Multi-Regime Physics Engine</a:t>
            </a:r>
          </a:p>
          <a:p>
            <a:pPr>
              <a:spcBef>
                <a:spcPts val="600"/>
              </a:spcBef>
              <a:defRPr sz="1000">
                <a:solidFill>
                  <a:srgbClr val="64748B"/>
                </a:solidFill>
              </a:defRPr>
            </a:pPr>
            <a:r>
              <a:t>Kolmogorov turbulence, atmospheric extinction, scintillation &amp; 3D drone swarms</a:t>
            </a:r>
          </a:p>
        </p:txBody>
      </p:sp>
      <p:sp>
        <p:nvSpPr>
          <p:cNvPr id="9" name="Rounded Rectangle 8"/>
          <p:cNvSpPr/>
          <p:nvPr/>
        </p:nvSpPr>
        <p:spPr>
          <a:xfrm>
            <a:off x="7955279" y="4297680"/>
            <a:ext cx="3200400"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4480560"/>
            <a:ext cx="2743200" cy="1371600"/>
          </a:xfrm>
          <a:prstGeom prst="rect">
            <a:avLst/>
          </a:prstGeom>
          <a:noFill/>
        </p:spPr>
        <p:txBody>
          <a:bodyPr wrap="square" lIns="0" tIns="0" rIns="0" bIns="0">
            <a:spAutoFit/>
          </a:bodyPr>
          <a:lstStyle/>
          <a:p>
            <a:pPr>
              <a:defRPr sz="1250" b="1">
                <a:solidFill>
                  <a:srgbClr val="0F172A"/>
                </a:solidFill>
              </a:defRPr>
            </a:pPr>
            <a:r>
              <a:t>⚡ Interactive Web &amp; CLI Suite</a:t>
            </a:r>
          </a:p>
          <a:p>
            <a:pPr>
              <a:spcBef>
                <a:spcPts val="600"/>
              </a:spcBef>
              <a:defRPr sz="1000">
                <a:solidFill>
                  <a:srgbClr val="64748B"/>
                </a:solidFill>
              </a:defRPr>
            </a:pPr>
            <a:r>
              <a:t>Real-time 30 FPS WebGL 3D world, optical remote joystick, and automated KPI reports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EXECUTIVE OVERVIEW &amp; SYSTEM VISUAL</a:t>
            </a:r>
          </a:p>
          <a:p>
            <a:pPr>
              <a:spcAft>
                <a:spcPts val="200"/>
              </a:spcAft>
              <a:defRPr sz="2200" b="1">
                <a:solidFill>
                  <a:srgbClr val="0F172A"/>
                </a:solidFill>
              </a:defRPr>
            </a:pPr>
            <a:r>
              <a:t>System Operational Concept: The Complete FSOC PAT Pipeline</a:t>
            </a:r>
          </a:p>
          <a:p>
            <a:pPr>
              <a:defRPr sz="1200">
                <a:solidFill>
                  <a:srgbClr val="64748B"/>
                </a:solidFill>
              </a:defRPr>
            </a:pPr>
            <a:r>
              <a:t>A holistic visual representation of the ground terminal, dual-stage beam pointing, and multi-drone swarm tracking</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7498079"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7040879" cy="411480"/>
          </a:xfrm>
          <a:prstGeom prst="rect">
            <a:avLst/>
          </a:prstGeom>
          <a:noFill/>
        </p:spPr>
        <p:txBody>
          <a:bodyPr wrap="square" lIns="0" tIns="0" rIns="0" bIns="0">
            <a:spAutoFit/>
          </a:bodyPr>
          <a:lstStyle/>
          <a:p>
            <a:pPr>
              <a:defRPr sz="1400" b="1">
                <a:solidFill>
                  <a:srgbClr val="0F172A"/>
                </a:solidFill>
              </a:defRPr>
            </a:pPr>
            <a:r>
              <a:t>OptiLign Integrated Operational Architecture</a:t>
            </a:r>
          </a:p>
        </p:txBody>
      </p:sp>
      <p:pic>
        <p:nvPicPr>
          <p:cNvPr id="7" name="Picture 6" descr="optilign_overview.jpg"/>
          <p:cNvPicPr>
            <a:picLocks noChangeAspect="1"/>
          </p:cNvPicPr>
          <p:nvPr/>
        </p:nvPicPr>
        <p:blipFill>
          <a:blip r:embed="rId2"/>
          <a:stretch>
            <a:fillRect/>
          </a:stretch>
        </p:blipFill>
        <p:spPr>
          <a:xfrm>
            <a:off x="868680" y="2148840"/>
            <a:ext cx="7223760" cy="4031866"/>
          </a:xfrm>
          <a:prstGeom prst="rect">
            <a:avLst/>
          </a:prstGeom>
        </p:spPr>
      </p:pic>
      <p:sp>
        <p:nvSpPr>
          <p:cNvPr id="8" name="Rounded Rectangle 7"/>
          <p:cNvSpPr/>
          <p:nvPr/>
        </p:nvSpPr>
        <p:spPr>
          <a:xfrm>
            <a:off x="8412480" y="1554480"/>
            <a:ext cx="304769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41080" y="1737360"/>
            <a:ext cx="2590495" cy="411480"/>
          </a:xfrm>
          <a:prstGeom prst="rect">
            <a:avLst/>
          </a:prstGeom>
          <a:noFill/>
        </p:spPr>
        <p:txBody>
          <a:bodyPr wrap="square" lIns="0" tIns="0" rIns="0" bIns="0">
            <a:spAutoFit/>
          </a:bodyPr>
          <a:lstStyle/>
          <a:p>
            <a:pPr>
              <a:defRPr sz="1400" b="1">
                <a:solidFill>
                  <a:srgbClr val="0F172A"/>
                </a:solidFill>
              </a:defRPr>
            </a:pPr>
            <a:r>
              <a:t>Core Technical Highlights</a:t>
            </a:r>
          </a:p>
        </p:txBody>
      </p:sp>
      <p:sp>
        <p:nvSpPr>
          <p:cNvPr id="10" name="TextBox 9"/>
          <p:cNvSpPr txBox="1"/>
          <p:nvPr/>
        </p:nvSpPr>
        <p:spPr>
          <a:xfrm>
            <a:off x="8595360" y="2148840"/>
            <a:ext cx="2681935" cy="3840480"/>
          </a:xfrm>
          <a:prstGeom prst="rect">
            <a:avLst/>
          </a:prstGeom>
          <a:noFill/>
        </p:spPr>
        <p:txBody>
          <a:bodyPr wrap="square" lIns="0" tIns="0" rIns="0" bIns="0">
            <a:spAutoFit/>
          </a:bodyPr>
          <a:lstStyle/>
          <a:p>
            <a:pPr>
              <a:spcBef>
                <a:spcPts val="600"/>
              </a:spcBef>
              <a:defRPr b="1" sz="1000">
                <a:solidFill>
                  <a:srgbClr val="0284C7"/>
                </a:solidFill>
              </a:defRPr>
            </a:pPr>
            <a:r>
              <a:t>✔ Motorized Coarse Gimbal: </a:t>
            </a:r>
            <a:r>
              <a:rPr b="0">
                <a:solidFill>
                  <a:srgbClr val="334155"/>
                </a:solidFill>
              </a:rPr>
              <a:t>Rooftop observation terminal with continuous azimuth/elevation slew rates up to 60°/s.</a:t>
            </a:r>
          </a:p>
          <a:p>
            <a:pPr>
              <a:spcBef>
                <a:spcPts val="600"/>
              </a:spcBef>
              <a:defRPr b="1" sz="1000">
                <a:solidFill>
                  <a:srgbClr val="0284C7"/>
                </a:solidFill>
              </a:defRPr>
            </a:pPr>
            <a:r>
              <a:t>✔ Collimated Laser Beam: </a:t>
            </a:r>
            <a:r>
              <a:rPr b="0">
                <a:solidFill>
                  <a:srgbClr val="334155"/>
                </a:solidFill>
              </a:rPr>
              <a:t>Diffraction-limited optical beam tracking primary UAV terminal with high stability.</a:t>
            </a:r>
          </a:p>
          <a:p>
            <a:pPr>
              <a:spcBef>
                <a:spcPts val="600"/>
              </a:spcBef>
              <a:defRPr b="1" sz="1000">
                <a:solidFill>
                  <a:srgbClr val="0284C7"/>
                </a:solidFill>
              </a:defRPr>
            </a:pPr>
            <a:r>
              <a:t>✔ Multi-Target Swarm: </a:t>
            </a:r>
            <a:r>
              <a:rPr b="0">
                <a:solidFill>
                  <a:srgbClr val="334155"/>
                </a:solidFill>
              </a:rPr>
              <a:t>Tracks primary target while rejecting distractor drones and solar background reflections.</a:t>
            </a:r>
          </a:p>
          <a:p>
            <a:pPr>
              <a:spcBef>
                <a:spcPts val="600"/>
              </a:spcBef>
              <a:defRPr b="1" sz="1000">
                <a:solidFill>
                  <a:srgbClr val="0284C7"/>
                </a:solidFill>
              </a:defRPr>
            </a:pPr>
            <a:r>
              <a:t>✔ Sub-Micro-Radian Lock: </a:t>
            </a:r>
            <a:r>
              <a:rPr b="0">
                <a:solidFill>
                  <a:srgbClr val="334155"/>
                </a:solidFill>
              </a:rPr>
              <a:t>Piezoelectric Fast Steering Mirror (FSM) stabilizes residual jitter down to 0.020 µrad.</a:t>
            </a:r>
          </a:p>
          <a:p>
            <a:pPr>
              <a:spcBef>
                <a:spcPts val="600"/>
              </a:spcBef>
              <a:defRPr b="1" sz="1000">
                <a:solidFill>
                  <a:srgbClr val="0284C7"/>
                </a:solidFill>
              </a:defRPr>
            </a:pPr>
            <a:r>
              <a:t>✔ Turbulence &amp; Scintillation: </a:t>
            </a:r>
            <a:r>
              <a:rPr b="0">
                <a:solidFill>
                  <a:srgbClr val="334155"/>
                </a:solidFill>
              </a:rPr>
              <a:t>Adaptive Kalman filter dynamically maintains lock through atmospheric fades.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PROBLEM STATEMENT &amp; MOTIVATION</a:t>
            </a:r>
          </a:p>
          <a:p>
            <a:pPr>
              <a:spcAft>
                <a:spcPts val="200"/>
              </a:spcAft>
              <a:defRPr sz="2200" b="1">
                <a:solidFill>
                  <a:srgbClr val="0F172A"/>
                </a:solidFill>
              </a:defRPr>
            </a:pPr>
            <a:r>
              <a:t>The FSOC Mobile Challenge &amp; The Testing Bottleneck</a:t>
            </a:r>
          </a:p>
          <a:p>
            <a:pPr>
              <a:defRPr sz="1200">
                <a:solidFill>
                  <a:srgbClr val="64748B"/>
                </a:solidFill>
              </a:defRPr>
            </a:pPr>
            <a:r>
              <a:t>Why software-based virtual camera tracking is vital for next-generation optical communication networks</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52120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754880" cy="411480"/>
          </a:xfrm>
          <a:prstGeom prst="rect">
            <a:avLst/>
          </a:prstGeom>
          <a:noFill/>
        </p:spPr>
        <p:txBody>
          <a:bodyPr wrap="square" lIns="0" tIns="0" rIns="0" bIns="0">
            <a:spAutoFit/>
          </a:bodyPr>
          <a:lstStyle/>
          <a:p>
            <a:pPr>
              <a:defRPr sz="1400" b="1">
                <a:solidFill>
                  <a:srgbClr val="0F172A"/>
                </a:solidFill>
              </a:defRPr>
            </a:pPr>
            <a:r>
              <a:t>1. Mobile FSOC Operational Challenges</a:t>
            </a:r>
          </a:p>
        </p:txBody>
      </p:sp>
      <p:sp>
        <p:nvSpPr>
          <p:cNvPr id="7" name="TextBox 6"/>
          <p:cNvSpPr txBox="1"/>
          <p:nvPr/>
        </p:nvSpPr>
        <p:spPr>
          <a:xfrm>
            <a:off x="960120" y="2148840"/>
            <a:ext cx="4754880" cy="3840480"/>
          </a:xfrm>
          <a:prstGeom prst="rect">
            <a:avLst/>
          </a:prstGeom>
          <a:noFill/>
        </p:spPr>
        <p:txBody>
          <a:bodyPr wrap="square" lIns="0" tIns="0" rIns="0" bIns="0">
            <a:spAutoFit/>
          </a:bodyPr>
          <a:lstStyle/>
          <a:p>
            <a:pPr>
              <a:spcBef>
                <a:spcPts val="800"/>
              </a:spcBef>
              <a:defRPr b="1" sz="1100">
                <a:solidFill>
                  <a:srgbClr val="0F172A"/>
                </a:solidFill>
              </a:defRPr>
            </a:pPr>
            <a:r>
              <a:t>• Extreme Beam Narrowness: </a:t>
            </a:r>
            <a:r>
              <a:rPr b="0">
                <a:solidFill>
                  <a:srgbClr val="334155"/>
                </a:solidFill>
              </a:rPr>
              <a:t>Laser beam divergence is typically 50–150 µrad. Even a fractional milliradian misalignment drops optical received power below receiver sensitivity, causing immediate link outage.</a:t>
            </a:r>
          </a:p>
          <a:p>
            <a:pPr>
              <a:spcBef>
                <a:spcPts val="800"/>
              </a:spcBef>
              <a:defRPr b="1" sz="1100">
                <a:solidFill>
                  <a:srgbClr val="0F172A"/>
                </a:solidFill>
              </a:defRPr>
            </a:pPr>
            <a:r>
              <a:t>• Dynamic Mobile Line-of-Sight: </a:t>
            </a:r>
            <a:r>
              <a:rPr b="0">
                <a:solidFill>
                  <a:srgbClr val="334155"/>
                </a:solidFill>
              </a:rPr>
              <a:t>Transceivers mounted on satellites (LEO 7.5 km/s), UAVs, and naval vessels undergo aggressive angular velocities, structural flexure, and vibration.</a:t>
            </a:r>
          </a:p>
          <a:p>
            <a:pPr>
              <a:spcBef>
                <a:spcPts val="800"/>
              </a:spcBef>
              <a:defRPr b="1" sz="1100">
                <a:solidFill>
                  <a:srgbClr val="0F172A"/>
                </a:solidFill>
              </a:defRPr>
            </a:pPr>
            <a:r>
              <a:t>• Atmospheric Disturbances: </a:t>
            </a:r>
            <a:r>
              <a:rPr b="0">
                <a:solidFill>
                  <a:srgbClr val="334155"/>
                </a:solidFill>
              </a:rPr>
              <a:t>Kolmogorov refractive index fluctuations (Cn²), log-normal scintillation fading, and thermal fog extinction attenuate and distort optical signals.</a:t>
            </a:r>
          </a:p>
          <a:p>
            <a:pPr>
              <a:spcBef>
                <a:spcPts val="800"/>
              </a:spcBef>
              <a:defRPr b="1" sz="1100">
                <a:solidFill>
                  <a:srgbClr val="0F172A"/>
                </a:solidFill>
              </a:defRPr>
            </a:pPr>
            <a:r>
              <a:t>• False Detections &amp; Clutter: </a:t>
            </a:r>
            <a:r>
              <a:rPr b="0">
                <a:solidFill>
                  <a:srgbClr val="334155"/>
                </a:solidFill>
              </a:rPr>
              <a:t>Solar glare, cloud scattering, and multi-target swarm distractors confuse conventional tracking sensors.</a:t>
            </a:r>
          </a:p>
        </p:txBody>
      </p:sp>
      <p:sp>
        <p:nvSpPr>
          <p:cNvPr id="8" name="Rounded Rectangle 7"/>
          <p:cNvSpPr/>
          <p:nvPr/>
        </p:nvSpPr>
        <p:spPr>
          <a:xfrm>
            <a:off x="6217920" y="1554480"/>
            <a:ext cx="52120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37360"/>
            <a:ext cx="4754880" cy="411480"/>
          </a:xfrm>
          <a:prstGeom prst="rect">
            <a:avLst/>
          </a:prstGeom>
          <a:noFill/>
        </p:spPr>
        <p:txBody>
          <a:bodyPr wrap="square" lIns="0" tIns="0" rIns="0" bIns="0">
            <a:spAutoFit/>
          </a:bodyPr>
          <a:lstStyle/>
          <a:p>
            <a:pPr>
              <a:defRPr sz="1400" b="1">
                <a:solidFill>
                  <a:srgbClr val="0F172A"/>
                </a:solidFill>
              </a:defRPr>
            </a:pPr>
            <a:r>
              <a:t>2. The OptiLign Solution &amp; Impact</a:t>
            </a:r>
          </a:p>
        </p:txBody>
      </p:sp>
      <p:sp>
        <p:nvSpPr>
          <p:cNvPr id="10" name="TextBox 9"/>
          <p:cNvSpPr txBox="1"/>
          <p:nvPr/>
        </p:nvSpPr>
        <p:spPr>
          <a:xfrm>
            <a:off x="6446520" y="2148840"/>
            <a:ext cx="4754880" cy="3840480"/>
          </a:xfrm>
          <a:prstGeom prst="rect">
            <a:avLst/>
          </a:prstGeom>
          <a:noFill/>
        </p:spPr>
        <p:txBody>
          <a:bodyPr wrap="square" lIns="0" tIns="0" rIns="0" bIns="0">
            <a:spAutoFit/>
          </a:bodyPr>
          <a:lstStyle/>
          <a:p>
            <a:pPr>
              <a:spcBef>
                <a:spcPts val="800"/>
              </a:spcBef>
              <a:defRPr b="1" sz="1100">
                <a:solidFill>
                  <a:srgbClr val="0284C7"/>
                </a:solidFill>
              </a:defRPr>
            </a:pPr>
            <a:r>
              <a:t>✔ Virtual Optical Testbed: </a:t>
            </a:r>
            <a:r>
              <a:rPr b="0">
                <a:solidFill>
                  <a:srgbClr val="334155"/>
                </a:solidFill>
              </a:rPr>
              <a:t>Eliminates need for expensive multi-million-dollar laboratory gimbals, collimators, and cryogenic sensors during preliminary algorithm design.</a:t>
            </a:r>
          </a:p>
          <a:p>
            <a:pPr>
              <a:spcBef>
                <a:spcPts val="800"/>
              </a:spcBef>
              <a:defRPr b="1" sz="1100">
                <a:solidFill>
                  <a:srgbClr val="0284C7"/>
                </a:solidFill>
              </a:defRPr>
            </a:pPr>
            <a:r>
              <a:t>✔ Dual-Stage Control Architecture: </a:t>
            </a:r>
            <a:r>
              <a:rPr b="0">
                <a:solidFill>
                  <a:srgbClr val="334155"/>
                </a:solidFill>
              </a:rPr>
              <a:t>Combines high-torque coarse gimbal tracking (wide FOV) with high-bandwidth piezoelectric Fast Steering Mirrors (FSM, &gt;1 kHz) to attenuate jitter.</a:t>
            </a:r>
          </a:p>
          <a:p>
            <a:pPr>
              <a:spcBef>
                <a:spcPts val="800"/>
              </a:spcBef>
              <a:defRPr b="1" sz="1100">
                <a:solidFill>
                  <a:srgbClr val="0284C7"/>
                </a:solidFill>
              </a:defRPr>
            </a:pPr>
            <a:r>
              <a:t>✔ Scintillation-Aware Perception: </a:t>
            </a:r>
            <a:r>
              <a:rPr b="0">
                <a:solidFill>
                  <a:srgbClr val="334155"/>
                </a:solidFill>
              </a:rPr>
              <a:t>Adaptive intensity-weighted centroiding and dynamic Kalman measurement noise covariance scaling maintain robust track during severe optical fading.</a:t>
            </a:r>
          </a:p>
          <a:p>
            <a:pPr>
              <a:spcBef>
                <a:spcPts val="800"/>
              </a:spcBef>
              <a:defRPr b="1" sz="1100">
                <a:solidFill>
                  <a:srgbClr val="0284C7"/>
                </a:solidFill>
              </a:defRPr>
            </a:pPr>
            <a:r>
              <a:t>✔ Reproducible &amp; Automated: </a:t>
            </a:r>
            <a:r>
              <a:rPr b="0">
                <a:solidFill>
                  <a:srgbClr val="334155"/>
                </a:solidFill>
              </a:rPr>
              <a:t>Fully deterministic Monte Carlo testing, 100% test pass rate across 245 test cases, and turnkey browser &amp; CLI execution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SYSTEM ARCHITECTURE &amp; DESIGN</a:t>
            </a:r>
          </a:p>
          <a:p>
            <a:pPr>
              <a:spcAft>
                <a:spcPts val="200"/>
              </a:spcAft>
              <a:defRPr sz="2200" b="1">
                <a:solidFill>
                  <a:srgbClr val="0F172A"/>
                </a:solidFill>
              </a:defRPr>
            </a:pPr>
            <a:r>
              <a:t>End-to-End Modular System Architecture</a:t>
            </a:r>
          </a:p>
          <a:p>
            <a:pPr>
              <a:defRPr sz="1200">
                <a:solidFill>
                  <a:srgbClr val="64748B"/>
                </a:solidFill>
              </a:defRPr>
            </a:pPr>
            <a:r>
              <a:t>A clean, decoupled pipeline connecting physical geometry, synthetic optics, and closed-loop control</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50292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572000" cy="411480"/>
          </a:xfrm>
          <a:prstGeom prst="rect">
            <a:avLst/>
          </a:prstGeom>
          <a:noFill/>
        </p:spPr>
        <p:txBody>
          <a:bodyPr wrap="square" lIns="0" tIns="0" rIns="0" bIns="0">
            <a:spAutoFit/>
          </a:bodyPr>
          <a:lstStyle/>
          <a:p>
            <a:pPr>
              <a:defRPr sz="1400" b="1">
                <a:solidFill>
                  <a:srgbClr val="0F172A"/>
                </a:solidFill>
              </a:defRPr>
            </a:pPr>
            <a:r>
              <a:t>Subsystem Pipeline &amp; Information Flow</a:t>
            </a:r>
          </a:p>
        </p:txBody>
      </p:sp>
      <p:sp>
        <p:nvSpPr>
          <p:cNvPr id="7" name="TextBox 6"/>
          <p:cNvSpPr txBox="1"/>
          <p:nvPr/>
        </p:nvSpPr>
        <p:spPr>
          <a:xfrm>
            <a:off x="960120" y="2148840"/>
            <a:ext cx="4572000" cy="3840480"/>
          </a:xfrm>
          <a:prstGeom prst="rect">
            <a:avLst/>
          </a:prstGeom>
          <a:noFill/>
        </p:spPr>
        <p:txBody>
          <a:bodyPr wrap="square" lIns="0" tIns="0" rIns="0" bIns="0">
            <a:spAutoFit/>
          </a:bodyPr>
          <a:lstStyle/>
          <a:p>
            <a:pPr>
              <a:spcBef>
                <a:spcPts val="500"/>
              </a:spcBef>
              <a:defRPr b="1" sz="1050">
                <a:solidFill>
                  <a:srgbClr val="0F172A"/>
                </a:solidFill>
              </a:defRPr>
            </a:pPr>
            <a:r>
              <a:t>1. Target Kinematics &amp; Environment: </a:t>
            </a:r>
            <a:r>
              <a:rPr b="0">
                <a:solidFill>
                  <a:srgbClr val="334155"/>
                </a:solidFill>
              </a:rPr>
              <a:t>Computes 6-DOF target positions, atmospheric extinction, wind velocity, and ambient solar irradiance.</a:t>
            </a:r>
          </a:p>
          <a:p>
            <a:pPr>
              <a:spcBef>
                <a:spcPts val="500"/>
              </a:spcBef>
              <a:defRPr b="1" sz="1050">
                <a:solidFill>
                  <a:srgbClr val="0F172A"/>
                </a:solidFill>
              </a:defRPr>
            </a:pPr>
            <a:r>
              <a:t>2. Synthetic Optical Renderer: </a:t>
            </a:r>
            <a:r>
              <a:rPr b="0">
                <a:solidFill>
                  <a:srgbClr val="334155"/>
                </a:solidFill>
              </a:rPr>
              <a:t>Simulates FPA sensor focal plane, Airy diffraction disc PSF, shot noise, dark current, and pixel quantisation.</a:t>
            </a:r>
          </a:p>
          <a:p>
            <a:pPr>
              <a:spcBef>
                <a:spcPts val="500"/>
              </a:spcBef>
              <a:defRPr b="1" sz="1050">
                <a:solidFill>
                  <a:srgbClr val="0F172A"/>
                </a:solidFill>
              </a:defRPr>
            </a:pPr>
            <a:r>
              <a:t>3. Adaptive Beacon Perception: </a:t>
            </a:r>
            <a:r>
              <a:rPr b="0">
                <a:solidFill>
                  <a:srgbClr val="334155"/>
                </a:solidFill>
              </a:rPr>
              <a:t>Performs background top-hat morphological subtraction, dynamic thresholding, and sub-pixel intensity centroiding.</a:t>
            </a:r>
          </a:p>
          <a:p>
            <a:pPr>
              <a:spcBef>
                <a:spcPts val="500"/>
              </a:spcBef>
              <a:defRPr b="1" sz="1050">
                <a:solidFill>
                  <a:srgbClr val="0F172A"/>
                </a:solidFill>
              </a:defRPr>
            </a:pPr>
            <a:r>
              <a:t>4. Kinematic Estimation (EKF / IMM): </a:t>
            </a:r>
            <a:r>
              <a:rPr b="0">
                <a:solidFill>
                  <a:srgbClr val="334155"/>
                </a:solidFill>
              </a:rPr>
              <a:t>Estimates 3D position, velocity, and acceleration while scaling measurement noise covariance based on scintillation.</a:t>
            </a:r>
          </a:p>
          <a:p>
            <a:pPr>
              <a:spcBef>
                <a:spcPts val="500"/>
              </a:spcBef>
              <a:defRPr b="1" sz="1050">
                <a:solidFill>
                  <a:srgbClr val="0F172A"/>
                </a:solidFill>
              </a:defRPr>
            </a:pPr>
            <a:r>
              <a:t>5. Dual-Stage PAT Controller: </a:t>
            </a:r>
            <a:r>
              <a:rPr b="0">
                <a:solidFill>
                  <a:srgbClr val="334155"/>
                </a:solidFill>
              </a:rPr>
              <a:t>Generates coarse gimbal velocity commands and high-speed piezoelectric FSM deflections.</a:t>
            </a:r>
          </a:p>
          <a:p>
            <a:pPr>
              <a:spcBef>
                <a:spcPts val="500"/>
              </a:spcBef>
              <a:defRPr b="1" sz="1050">
                <a:solidFill>
                  <a:srgbClr val="0F172A"/>
                </a:solidFill>
              </a:defRPr>
            </a:pPr>
            <a:r>
              <a:t>6. Actuator Dynamics &amp; Link Budget: </a:t>
            </a:r>
            <a:r>
              <a:rPr b="0">
                <a:solidFill>
                  <a:srgbClr val="334155"/>
                </a:solidFill>
              </a:rPr>
              <a:t>Enforces inertial lag, motor slew rate limits, and calculates received optical power and link margin.</a:t>
            </a:r>
          </a:p>
        </p:txBody>
      </p:sp>
      <p:sp>
        <p:nvSpPr>
          <p:cNvPr id="8" name="Rounded Rectangle 7"/>
          <p:cNvSpPr/>
          <p:nvPr/>
        </p:nvSpPr>
        <p:spPr>
          <a:xfrm>
            <a:off x="6035040" y="1554480"/>
            <a:ext cx="539496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37360"/>
            <a:ext cx="4937760" cy="411480"/>
          </a:xfrm>
          <a:prstGeom prst="rect">
            <a:avLst/>
          </a:prstGeom>
          <a:noFill/>
        </p:spPr>
        <p:txBody>
          <a:bodyPr wrap="square" lIns="0" tIns="0" rIns="0" bIns="0">
            <a:spAutoFit/>
          </a:bodyPr>
          <a:lstStyle/>
          <a:p>
            <a:pPr>
              <a:defRPr sz="1400" b="1">
                <a:solidFill>
                  <a:srgbClr val="0F172A"/>
                </a:solidFill>
              </a:defRPr>
            </a:pPr>
            <a:r>
              <a:t>Full System Verification Topology</a:t>
            </a:r>
          </a:p>
        </p:txBody>
      </p:sp>
      <p:pic>
        <p:nvPicPr>
          <p:cNvPr id="10" name="Picture 9" descr="demo_full_system.png"/>
          <p:cNvPicPr>
            <a:picLocks noChangeAspect="1"/>
          </p:cNvPicPr>
          <p:nvPr/>
        </p:nvPicPr>
        <p:blipFill>
          <a:blip r:embed="rId2"/>
          <a:stretch>
            <a:fillRect/>
          </a:stretch>
        </p:blipFill>
        <p:spPr>
          <a:xfrm>
            <a:off x="6217920" y="2148840"/>
            <a:ext cx="5029200" cy="354538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PERCEPTION &amp; SENSOR SIMULATION</a:t>
            </a:r>
          </a:p>
          <a:p>
            <a:pPr>
              <a:spcAft>
                <a:spcPts val="200"/>
              </a:spcAft>
              <a:defRPr sz="2200" b="1">
                <a:solidFill>
                  <a:srgbClr val="0F172A"/>
                </a:solidFill>
              </a:defRPr>
            </a:pPr>
            <a:r>
              <a:t>Synthetic Optical Perception &amp; Centroiding Engine</a:t>
            </a:r>
          </a:p>
          <a:p>
            <a:pPr>
              <a:defRPr sz="1200">
                <a:solidFill>
                  <a:srgbClr val="64748B"/>
                </a:solidFill>
              </a:defRPr>
            </a:pPr>
            <a:r>
              <a:t>Sub-pixel target centroiding in heavy background noise, clutter, and atmospheric extinction</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50292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572000" cy="411480"/>
          </a:xfrm>
          <a:prstGeom prst="rect">
            <a:avLst/>
          </a:prstGeom>
          <a:noFill/>
        </p:spPr>
        <p:txBody>
          <a:bodyPr wrap="square" lIns="0" tIns="0" rIns="0" bIns="0">
            <a:spAutoFit/>
          </a:bodyPr>
          <a:lstStyle/>
          <a:p>
            <a:pPr>
              <a:defRPr sz="1400" b="1">
                <a:solidFill>
                  <a:srgbClr val="0F172A"/>
                </a:solidFill>
              </a:defRPr>
            </a:pPr>
            <a:r>
              <a:t>Mathematical Modeling of FPA Sensor</a:t>
            </a:r>
          </a:p>
        </p:txBody>
      </p:sp>
      <p:sp>
        <p:nvSpPr>
          <p:cNvPr id="7" name="TextBox 6"/>
          <p:cNvSpPr txBox="1"/>
          <p:nvPr/>
        </p:nvSpPr>
        <p:spPr>
          <a:xfrm>
            <a:off x="960120" y="2148840"/>
            <a:ext cx="4572000" cy="3840480"/>
          </a:xfrm>
          <a:prstGeom prst="rect">
            <a:avLst/>
          </a:prstGeom>
          <a:noFill/>
        </p:spPr>
        <p:txBody>
          <a:bodyPr wrap="square" lIns="0" tIns="0" rIns="0" bIns="0">
            <a:spAutoFit/>
          </a:bodyPr>
          <a:lstStyle/>
          <a:p>
            <a:pPr>
              <a:spcBef>
                <a:spcPts val="600"/>
              </a:spcBef>
              <a:defRPr b="1" sz="1050">
                <a:solidFill>
                  <a:srgbClr val="0F172A"/>
                </a:solidFill>
              </a:defRPr>
            </a:pPr>
            <a:r>
              <a:t>• Point Spread Function (PSF): </a:t>
            </a:r>
            <a:r>
              <a:rPr b="0">
                <a:solidFill>
                  <a:srgbClr val="334155"/>
                </a:solidFill>
              </a:rPr>
              <a:t>Target beacon modeled via Gaussian approximation of Airy diffraction disk: I(x,y) = I_0 * exp(-[(x-x_0)² + (y-y_0)²] / [2*sigma_psf²]).</a:t>
            </a:r>
          </a:p>
          <a:p>
            <a:pPr>
              <a:spcBef>
                <a:spcPts val="600"/>
              </a:spcBef>
              <a:defRPr b="1" sz="1050">
                <a:solidFill>
                  <a:srgbClr val="0F172A"/>
                </a:solidFill>
              </a:defRPr>
            </a:pPr>
            <a:r>
              <a:t>• Sensor Noise Sources: </a:t>
            </a:r>
            <a:r>
              <a:rPr b="0">
                <a:solidFill>
                  <a:srgbClr val="334155"/>
                </a:solidFill>
              </a:rPr>
              <a:t>Simulates Poisson photon shot noise, Johnson-Nyquist thermal read noise N(0, sigma_r²), dark current, and Fixed Pattern Noise (FPN).</a:t>
            </a:r>
          </a:p>
          <a:p>
            <a:pPr>
              <a:spcBef>
                <a:spcPts val="600"/>
              </a:spcBef>
              <a:defRPr b="1" sz="1050">
                <a:solidFill>
                  <a:srgbClr val="0F172A"/>
                </a:solidFill>
              </a:defRPr>
            </a:pPr>
            <a:r>
              <a:t>• Atmospheric Extinction: </a:t>
            </a:r>
            <a:r>
              <a:rPr b="0">
                <a:solidFill>
                  <a:srgbClr val="334155"/>
                </a:solidFill>
              </a:rPr>
              <a:t>Implements Beer-Lambert optical transmittance: T = exp(-gamma * R), dynamically attenuating beacon intensity under fog, haze, and rain.</a:t>
            </a:r>
          </a:p>
          <a:p>
            <a:pPr>
              <a:spcBef>
                <a:spcPts val="600"/>
              </a:spcBef>
              <a:defRPr b="1" sz="1050">
                <a:solidFill>
                  <a:srgbClr val="0F172A"/>
                </a:solidFill>
              </a:defRPr>
            </a:pPr>
            <a:r>
              <a:t>• Sub-Pixel Intensity Centroiding: </a:t>
            </a:r>
            <a:r>
              <a:rPr b="0">
                <a:solidFill>
                  <a:srgbClr val="334155"/>
                </a:solidFill>
              </a:rPr>
              <a:t>Calculates center-of-mass over thresholded Region-of-Interest (ROI): x_c = sum(x * I) / sum(I), achieving &lt; 0.1 pixel accuracy.</a:t>
            </a:r>
          </a:p>
          <a:p>
            <a:pPr>
              <a:spcBef>
                <a:spcPts val="600"/>
              </a:spcBef>
              <a:defRPr b="1" sz="1050">
                <a:solidFill>
                  <a:srgbClr val="0F172A"/>
                </a:solidFill>
              </a:defRPr>
            </a:pPr>
            <a:r>
              <a:t>• Clutter &amp; Distractor Rejection: </a:t>
            </a:r>
            <a:r>
              <a:rPr b="0">
                <a:solidFill>
                  <a:srgbClr val="334155"/>
                </a:solidFill>
              </a:rPr>
              <a:t>Top-hat morphological filtering separates point-source laser beacons from non-uniform solar cloud glare and multi-target swarm distractors.</a:t>
            </a:r>
          </a:p>
        </p:txBody>
      </p:sp>
      <p:sp>
        <p:nvSpPr>
          <p:cNvPr id="8" name="Rounded Rectangle 7"/>
          <p:cNvSpPr/>
          <p:nvPr/>
        </p:nvSpPr>
        <p:spPr>
          <a:xfrm>
            <a:off x="6035040" y="1554480"/>
            <a:ext cx="539496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37360"/>
            <a:ext cx="4937760" cy="411480"/>
          </a:xfrm>
          <a:prstGeom prst="rect">
            <a:avLst/>
          </a:prstGeom>
          <a:noFill/>
        </p:spPr>
        <p:txBody>
          <a:bodyPr wrap="square" lIns="0" tIns="0" rIns="0" bIns="0">
            <a:spAutoFit/>
          </a:bodyPr>
          <a:lstStyle/>
          <a:p>
            <a:pPr>
              <a:defRPr sz="1400" b="1">
                <a:solidFill>
                  <a:srgbClr val="0F172A"/>
                </a:solidFill>
              </a:defRPr>
            </a:pPr>
            <a:r>
              <a:t>Perception Pipeline Simulation Results</a:t>
            </a:r>
          </a:p>
        </p:txBody>
      </p:sp>
      <p:pic>
        <p:nvPicPr>
          <p:cNvPr id="10" name="Picture 9" descr="demo_p2_results.png"/>
          <p:cNvPicPr>
            <a:picLocks noChangeAspect="1"/>
          </p:cNvPicPr>
          <p:nvPr/>
        </p:nvPicPr>
        <p:blipFill>
          <a:blip r:embed="rId2"/>
          <a:stretch>
            <a:fillRect/>
          </a:stretch>
        </p:blipFill>
        <p:spPr>
          <a:xfrm>
            <a:off x="6217920" y="2148840"/>
            <a:ext cx="5029200" cy="378615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ESTIMATION &amp; PREDICTIVE TRACKING</a:t>
            </a:r>
          </a:p>
          <a:p>
            <a:pPr>
              <a:spcAft>
                <a:spcPts val="200"/>
              </a:spcAft>
              <a:defRPr sz="2200" b="1">
                <a:solidFill>
                  <a:srgbClr val="0F172A"/>
                </a:solidFill>
              </a:defRPr>
            </a:pPr>
            <a:r>
              <a:t>Kinematic State Estimation: Scintillation-Aware EKF</a:t>
            </a:r>
          </a:p>
          <a:p>
            <a:pPr>
              <a:defRPr sz="1200">
                <a:solidFill>
                  <a:srgbClr val="64748B"/>
                </a:solidFill>
              </a:defRPr>
            </a:pPr>
            <a:r>
              <a:t>Adaptive filtering with dynamic measurement covariance scaling and clutter rejection</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50292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572000" cy="411480"/>
          </a:xfrm>
          <a:prstGeom prst="rect">
            <a:avLst/>
          </a:prstGeom>
          <a:noFill/>
        </p:spPr>
        <p:txBody>
          <a:bodyPr wrap="square" lIns="0" tIns="0" rIns="0" bIns="0">
            <a:spAutoFit/>
          </a:bodyPr>
          <a:lstStyle/>
          <a:p>
            <a:pPr>
              <a:defRPr sz="1400" b="1">
                <a:solidFill>
                  <a:srgbClr val="0F172A"/>
                </a:solidFill>
              </a:defRPr>
            </a:pPr>
            <a:r>
              <a:t>State Model &amp; Adaptive Covariance</a:t>
            </a:r>
          </a:p>
        </p:txBody>
      </p:sp>
      <p:sp>
        <p:nvSpPr>
          <p:cNvPr id="7" name="TextBox 6"/>
          <p:cNvSpPr txBox="1"/>
          <p:nvPr/>
        </p:nvSpPr>
        <p:spPr>
          <a:xfrm>
            <a:off x="960120" y="2148840"/>
            <a:ext cx="4572000" cy="3840480"/>
          </a:xfrm>
          <a:prstGeom prst="rect">
            <a:avLst/>
          </a:prstGeom>
          <a:noFill/>
        </p:spPr>
        <p:txBody>
          <a:bodyPr wrap="square" lIns="0" tIns="0" rIns="0" bIns="0">
            <a:spAutoFit/>
          </a:bodyPr>
          <a:lstStyle/>
          <a:p>
            <a:pPr>
              <a:spcBef>
                <a:spcPts val="600"/>
              </a:spcBef>
              <a:defRPr b="1" sz="1050">
                <a:solidFill>
                  <a:srgbClr val="0F172A"/>
                </a:solidFill>
              </a:defRPr>
            </a:pPr>
            <a:r>
              <a:t>• 9-State Kinematic Vector: </a:t>
            </a:r>
            <a:r>
              <a:rPr b="0">
                <a:solidFill>
                  <a:srgbClr val="334155"/>
                </a:solidFill>
              </a:rPr>
              <a:t>x = [x, y, z, vx, vy, vz, ax, ay, az]^T tracks position, velocity, and acceleration in spherical gimbal and Cartesian world frames.</a:t>
            </a:r>
          </a:p>
          <a:p>
            <a:pPr>
              <a:spcBef>
                <a:spcPts val="600"/>
              </a:spcBef>
              <a:defRPr b="1" sz="1050">
                <a:solidFill>
                  <a:srgbClr val="0F172A"/>
                </a:solidFill>
              </a:defRPr>
            </a:pPr>
            <a:r>
              <a:t>• Non-Linear Measurement Mapping: </a:t>
            </a:r>
            <a:r>
              <a:rPr b="0">
                <a:solidFill>
                  <a:srgbClr val="334155"/>
                </a:solidFill>
              </a:rPr>
              <a:t>h(x) maps Cartesian coordinates to sensor pixel coordinates (u, v) using camera intrinsic matrix and lens distortion coefficients.</a:t>
            </a:r>
          </a:p>
          <a:p>
            <a:pPr>
              <a:spcBef>
                <a:spcPts val="600"/>
              </a:spcBef>
              <a:defRPr b="1" sz="1050">
                <a:solidFill>
                  <a:srgbClr val="0F172A"/>
                </a:solidFill>
              </a:defRPr>
            </a:pPr>
            <a:r>
              <a:t>• Scintillation-Aware R_k Scaling: </a:t>
            </a:r>
            <a:r>
              <a:rPr b="0">
                <a:solidFill>
                  <a:srgbClr val="334155"/>
                </a:solidFill>
              </a:rPr>
              <a:t>During atmospheric fading, measurement covariance scales dynamically: R_k = R_0 * (1 + beta * sigma_I² / SNR), prioritizing kinematic prediction over noisy detections.</a:t>
            </a:r>
          </a:p>
          <a:p>
            <a:pPr>
              <a:spcBef>
                <a:spcPts val="600"/>
              </a:spcBef>
              <a:defRPr b="1" sz="1050">
                <a:solidFill>
                  <a:srgbClr val="0F172A"/>
                </a:solidFill>
              </a:defRPr>
            </a:pPr>
            <a:r>
              <a:t>• Mahalanobis Ellipsoidal Gating: </a:t>
            </a:r>
            <a:r>
              <a:rPr b="0">
                <a:solidFill>
                  <a:srgbClr val="334155"/>
                </a:solidFill>
              </a:rPr>
              <a:t>Rejects spurious glare and cloud reflections: d_M² = (z - h)^T * S^-1 * (z - h) &lt;= gamma_gate. Gated outliers are discarded safely.</a:t>
            </a:r>
          </a:p>
          <a:p>
            <a:pPr>
              <a:spcBef>
                <a:spcPts val="600"/>
              </a:spcBef>
              <a:defRPr b="1" sz="1050">
                <a:solidFill>
                  <a:srgbClr val="0F172A"/>
                </a:solidFill>
              </a:defRPr>
            </a:pPr>
            <a:r>
              <a:t>• Predictive Forward Tracking: </a:t>
            </a:r>
            <a:r>
              <a:rPr b="0">
                <a:solidFill>
                  <a:srgbClr val="334155"/>
                </a:solidFill>
              </a:rPr>
              <a:t>Bridges optical dropouts during momentary occlusions without losing track of target heading.</a:t>
            </a:r>
          </a:p>
        </p:txBody>
      </p:sp>
      <p:sp>
        <p:nvSpPr>
          <p:cNvPr id="8" name="Rounded Rectangle 7"/>
          <p:cNvSpPr/>
          <p:nvPr/>
        </p:nvSpPr>
        <p:spPr>
          <a:xfrm>
            <a:off x="6035040" y="1554480"/>
            <a:ext cx="539496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37360"/>
            <a:ext cx="4937760" cy="411480"/>
          </a:xfrm>
          <a:prstGeom prst="rect">
            <a:avLst/>
          </a:prstGeom>
          <a:noFill/>
        </p:spPr>
        <p:txBody>
          <a:bodyPr wrap="square" lIns="0" tIns="0" rIns="0" bIns="0">
            <a:spAutoFit/>
          </a:bodyPr>
          <a:lstStyle/>
          <a:p>
            <a:pPr>
              <a:defRPr sz="1400" b="1">
                <a:solidFill>
                  <a:srgbClr val="0F172A"/>
                </a:solidFill>
              </a:defRPr>
            </a:pPr>
            <a:r>
              <a:t>EKF Tracking Performance &amp; State Convergence</a:t>
            </a:r>
          </a:p>
        </p:txBody>
      </p:sp>
      <p:pic>
        <p:nvPicPr>
          <p:cNvPr id="10" name="Picture 9" descr="demo_p3_results.png"/>
          <p:cNvPicPr>
            <a:picLocks noChangeAspect="1"/>
          </p:cNvPicPr>
          <p:nvPr/>
        </p:nvPicPr>
        <p:blipFill>
          <a:blip r:embed="rId2"/>
          <a:stretch>
            <a:fillRect/>
          </a:stretch>
        </p:blipFill>
        <p:spPr>
          <a:xfrm>
            <a:off x="6217920" y="2148840"/>
            <a:ext cx="5029200" cy="439340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CONTROL &amp; ACTUATION DYNAMICS</a:t>
            </a:r>
          </a:p>
          <a:p>
            <a:pPr>
              <a:spcAft>
                <a:spcPts val="200"/>
              </a:spcAft>
              <a:defRPr sz="2200" b="1">
                <a:solidFill>
                  <a:srgbClr val="0F172A"/>
                </a:solidFill>
              </a:defRPr>
            </a:pPr>
            <a:r>
              <a:t>Dual-Stage Control: Coarse Gimbal &amp; Fine FSM</a:t>
            </a:r>
          </a:p>
          <a:p>
            <a:pPr>
              <a:defRPr sz="1200">
                <a:solidFill>
                  <a:srgbClr val="64748B"/>
                </a:solidFill>
              </a:defRPr>
            </a:pPr>
            <a:r>
              <a:t>Cooperative actuation achieving sub-micro-radian (nano-radian) residual pointing accuracy</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50292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572000" cy="411480"/>
          </a:xfrm>
          <a:prstGeom prst="rect">
            <a:avLst/>
          </a:prstGeom>
          <a:noFill/>
        </p:spPr>
        <p:txBody>
          <a:bodyPr wrap="square" lIns="0" tIns="0" rIns="0" bIns="0">
            <a:spAutoFit/>
          </a:bodyPr>
          <a:lstStyle/>
          <a:p>
            <a:pPr>
              <a:defRPr sz="1400" b="1">
                <a:solidFill>
                  <a:srgbClr val="0F172A"/>
                </a:solidFill>
              </a:defRPr>
            </a:pPr>
            <a:r>
              <a:t>Dual-Stage Cooperative Mechanism</a:t>
            </a:r>
          </a:p>
        </p:txBody>
      </p:sp>
      <p:sp>
        <p:nvSpPr>
          <p:cNvPr id="7" name="TextBox 6"/>
          <p:cNvSpPr txBox="1"/>
          <p:nvPr/>
        </p:nvSpPr>
        <p:spPr>
          <a:xfrm>
            <a:off x="960120" y="2148840"/>
            <a:ext cx="4572000" cy="3840480"/>
          </a:xfrm>
          <a:prstGeom prst="rect">
            <a:avLst/>
          </a:prstGeom>
          <a:noFill/>
        </p:spPr>
        <p:txBody>
          <a:bodyPr wrap="square" lIns="0" tIns="0" rIns="0" bIns="0">
            <a:spAutoFit/>
          </a:bodyPr>
          <a:lstStyle/>
          <a:p>
            <a:pPr>
              <a:spcBef>
                <a:spcPts val="600"/>
              </a:spcBef>
              <a:defRPr b="1" sz="1050">
                <a:solidFill>
                  <a:srgbClr val="0F172A"/>
                </a:solidFill>
              </a:defRPr>
            </a:pPr>
            <a:r>
              <a:t>• Coarse Pan-Tilt Gimbal Stage: </a:t>
            </a:r>
            <a:r>
              <a:rPr b="0">
                <a:solidFill>
                  <a:srgbClr val="334155"/>
                </a:solidFill>
              </a:rPr>
              <a:t>High-torque motorized gimbal with large travel range (±180° pan, -20° to +90° tilt). Slew rate limited to 60°/s with first-order actuator lag (tau = 15 ms).</a:t>
            </a:r>
          </a:p>
          <a:p>
            <a:pPr>
              <a:spcBef>
                <a:spcPts val="600"/>
              </a:spcBef>
              <a:defRPr b="1" sz="1050">
                <a:solidFill>
                  <a:srgbClr val="0F172A"/>
                </a:solidFill>
              </a:defRPr>
            </a:pPr>
            <a:r>
              <a:t>• Fine Steering Mirror (FSM) Stage: </a:t>
            </a:r>
            <a:r>
              <a:rPr b="0">
                <a:solidFill>
                  <a:srgbClr val="334155"/>
                </a:solidFill>
              </a:rPr>
              <a:t>Piezoelectric or voice-coil tip-tilt mirror operating over a narrow angular range (±5 mrad) with ultra-high bandwidth (&gt; 1,000 Hz).</a:t>
            </a:r>
          </a:p>
          <a:p>
            <a:pPr>
              <a:spcBef>
                <a:spcPts val="600"/>
              </a:spcBef>
              <a:defRPr b="1" sz="1050">
                <a:solidFill>
                  <a:srgbClr val="0F172A"/>
                </a:solidFill>
              </a:defRPr>
            </a:pPr>
            <a:r>
              <a:t>• Error Decoupling &amp; Offloading: </a:t>
            </a:r>
            <a:r>
              <a:rPr b="0">
                <a:solidFill>
                  <a:srgbClr val="334155"/>
                </a:solidFill>
              </a:rPr>
              <a:t>FSM compensates for high-frequency jitter and platform vibration. An offloading integrator slowly commands the coarse gimbal to center the FSM, preventing actuator saturation.</a:t>
            </a:r>
          </a:p>
          <a:p>
            <a:pPr>
              <a:spcBef>
                <a:spcPts val="600"/>
              </a:spcBef>
              <a:defRPr b="1" sz="1050">
                <a:solidFill>
                  <a:srgbClr val="0F172A"/>
                </a:solidFill>
              </a:defRPr>
            </a:pPr>
            <a:r>
              <a:t>• Anti-Windup &amp; Saturation Clamping: </a:t>
            </a:r>
            <a:r>
              <a:rPr b="0">
                <a:solidFill>
                  <a:srgbClr val="334155"/>
                </a:solidFill>
              </a:rPr>
              <a:t>Conditional integration prevents integrator windup during rapid slew transitions.</a:t>
            </a:r>
          </a:p>
          <a:p>
            <a:pPr>
              <a:spcBef>
                <a:spcPts val="600"/>
              </a:spcBef>
              <a:defRPr b="1" sz="1050">
                <a:solidFill>
                  <a:srgbClr val="0F172A"/>
                </a:solidFill>
              </a:defRPr>
            </a:pPr>
            <a:r>
              <a:t>• Pointing Error Verification: </a:t>
            </a:r>
            <a:r>
              <a:rPr b="0">
                <a:solidFill>
                  <a:srgbClr val="334155"/>
                </a:solidFill>
              </a:rPr>
              <a:t>Reduces pointing error from mrad down to ~0.020 µrad, well below diffraction-limited beam divergence.</a:t>
            </a:r>
          </a:p>
        </p:txBody>
      </p:sp>
      <p:sp>
        <p:nvSpPr>
          <p:cNvPr id="8" name="Rounded Rectangle 7"/>
          <p:cNvSpPr/>
          <p:nvPr/>
        </p:nvSpPr>
        <p:spPr>
          <a:xfrm>
            <a:off x="6035040" y="1554480"/>
            <a:ext cx="539496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37360"/>
            <a:ext cx="4937760" cy="411480"/>
          </a:xfrm>
          <a:prstGeom prst="rect">
            <a:avLst/>
          </a:prstGeom>
          <a:noFill/>
        </p:spPr>
        <p:txBody>
          <a:bodyPr wrap="square" lIns="0" tIns="0" rIns="0" bIns="0">
            <a:spAutoFit/>
          </a:bodyPr>
          <a:lstStyle/>
          <a:p>
            <a:pPr>
              <a:defRPr sz="1400" b="1">
                <a:solidFill>
                  <a:srgbClr val="0F172A"/>
                </a:solidFill>
              </a:defRPr>
            </a:pPr>
            <a:r>
              <a:t>Coarse vs. Dual-Stage Error Comparison</a:t>
            </a:r>
          </a:p>
        </p:txBody>
      </p:sp>
      <p:pic>
        <p:nvPicPr>
          <p:cNvPr id="10" name="Picture 9" descr="demo_p4_results.png"/>
          <p:cNvPicPr>
            <a:picLocks noChangeAspect="1"/>
          </p:cNvPicPr>
          <p:nvPr/>
        </p:nvPicPr>
        <p:blipFill>
          <a:blip r:embed="rId2"/>
          <a:stretch>
            <a:fillRect/>
          </a:stretch>
        </p:blipFill>
        <p:spPr>
          <a:xfrm>
            <a:off x="6217920" y="2148840"/>
            <a:ext cx="5029200" cy="494757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PAT STATE MACHINE &amp; FAULT TOLERANCE</a:t>
            </a:r>
          </a:p>
          <a:p>
            <a:pPr>
              <a:spcAft>
                <a:spcPts val="200"/>
              </a:spcAft>
              <a:defRPr sz="2200" b="1">
                <a:solidFill>
                  <a:srgbClr val="0F172A"/>
                </a:solidFill>
              </a:defRPr>
            </a:pPr>
            <a:r>
              <a:t>Autonomous PAT Supervisory State Machine</a:t>
            </a:r>
          </a:p>
          <a:p>
            <a:pPr>
              <a:defRPr sz="1200">
                <a:solidFill>
                  <a:srgbClr val="64748B"/>
                </a:solidFill>
              </a:defRPr>
            </a:pPr>
            <a:r>
              <a:t>Deterministic 5-state lifecycle with automated spiral acquisition and fast reacquisition</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50292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572000" cy="411480"/>
          </a:xfrm>
          <a:prstGeom prst="rect">
            <a:avLst/>
          </a:prstGeom>
          <a:noFill/>
        </p:spPr>
        <p:txBody>
          <a:bodyPr wrap="square" lIns="0" tIns="0" rIns="0" bIns="0">
            <a:spAutoFit/>
          </a:bodyPr>
          <a:lstStyle/>
          <a:p>
            <a:pPr>
              <a:defRPr sz="1400" b="1">
                <a:solidFill>
                  <a:srgbClr val="0F172A"/>
                </a:solidFill>
              </a:defRPr>
            </a:pPr>
            <a:r>
              <a:t>Discrete State Logic &amp; Transitions</a:t>
            </a:r>
          </a:p>
        </p:txBody>
      </p:sp>
      <p:sp>
        <p:nvSpPr>
          <p:cNvPr id="7" name="TextBox 6"/>
          <p:cNvSpPr txBox="1"/>
          <p:nvPr/>
        </p:nvSpPr>
        <p:spPr>
          <a:xfrm>
            <a:off x="960120" y="2148840"/>
            <a:ext cx="4572000" cy="3840480"/>
          </a:xfrm>
          <a:prstGeom prst="rect">
            <a:avLst/>
          </a:prstGeom>
          <a:noFill/>
        </p:spPr>
        <p:txBody>
          <a:bodyPr wrap="square" lIns="0" tIns="0" rIns="0" bIns="0">
            <a:spAutoFit/>
          </a:bodyPr>
          <a:lstStyle/>
          <a:p>
            <a:pPr>
              <a:spcBef>
                <a:spcPts val="600"/>
              </a:spcBef>
              <a:defRPr b="1" sz="1050">
                <a:solidFill>
                  <a:srgbClr val="0F172A"/>
                </a:solidFill>
              </a:defRPr>
            </a:pPr>
            <a:r>
              <a:t>1. STANDBY: </a:t>
            </a:r>
            <a:r>
              <a:rPr b="0">
                <a:solidFill>
                  <a:srgbClr val="334155"/>
                </a:solidFill>
              </a:rPr>
              <a:t>Terminal idle, actuators centered, awaiting activation command or ephemeris queue.</a:t>
            </a:r>
          </a:p>
          <a:p>
            <a:pPr>
              <a:spcBef>
                <a:spcPts val="600"/>
              </a:spcBef>
              <a:defRPr b="1" sz="1050">
                <a:solidFill>
                  <a:srgbClr val="0F172A"/>
                </a:solidFill>
              </a:defRPr>
            </a:pPr>
            <a:r>
              <a:t>2. SEARCH (Archimedean Spiral): </a:t>
            </a:r>
            <a:r>
              <a:rPr b="0">
                <a:solidFill>
                  <a:srgbClr val="334155"/>
                </a:solidFill>
              </a:rPr>
              <a:t>Scans spatial uncertainty cone: theta(t) = a * sqrt(t), phi(t) = omega * t. Optimised pitch ensures 100% optical coverage without blind spots.</a:t>
            </a:r>
          </a:p>
          <a:p>
            <a:pPr>
              <a:spcBef>
                <a:spcPts val="600"/>
              </a:spcBef>
              <a:defRPr b="1" sz="1050">
                <a:solidFill>
                  <a:srgbClr val="0F172A"/>
                </a:solidFill>
              </a:defRPr>
            </a:pPr>
            <a:r>
              <a:t>3. ACQUISITION: </a:t>
            </a:r>
            <a:r>
              <a:rPr b="0">
                <a:solidFill>
                  <a:srgbClr val="334155"/>
                </a:solidFill>
              </a:rPr>
              <a:t>Triggered when beacon intensity exceeds detection threshold. Coarse gimbal rapidly steers target toward camera optical boresight.</a:t>
            </a:r>
          </a:p>
          <a:p>
            <a:pPr>
              <a:spcBef>
                <a:spcPts val="600"/>
              </a:spcBef>
              <a:defRPr b="1" sz="1050">
                <a:solidFill>
                  <a:srgbClr val="E11D48"/>
                </a:solidFill>
              </a:defRPr>
            </a:pPr>
            <a:r>
              <a:t>4. FINE TRACKING: </a:t>
            </a:r>
            <a:r>
              <a:rPr b="0">
                <a:solidFill>
                  <a:srgbClr val="334155"/>
                </a:solidFill>
              </a:rPr>
              <a:t>Dual-stage tracking engaged (Gimbal + FSM). Laser communication link established with continuous telemetry monitoring.</a:t>
            </a:r>
          </a:p>
          <a:p>
            <a:pPr>
              <a:spcBef>
                <a:spcPts val="600"/>
              </a:spcBef>
              <a:defRPr b="1" sz="1050">
                <a:solidFill>
                  <a:srgbClr val="0F172A"/>
                </a:solidFill>
              </a:defRPr>
            </a:pPr>
            <a:r>
              <a:t>5. REACQUISITION: </a:t>
            </a:r>
            <a:r>
              <a:rPr b="0">
                <a:solidFill>
                  <a:srgbClr val="334155"/>
                </a:solidFill>
              </a:rPr>
              <a:t>Engaged upon line-of-sight interruption (cloud blockage, mast occlusion). Employs kinematic dead reckoning to re-acquire target within &lt; 0.15 s upon reappearance.</a:t>
            </a:r>
          </a:p>
        </p:txBody>
      </p:sp>
      <p:sp>
        <p:nvSpPr>
          <p:cNvPr id="8" name="Rounded Rectangle 7"/>
          <p:cNvSpPr/>
          <p:nvPr/>
        </p:nvSpPr>
        <p:spPr>
          <a:xfrm>
            <a:off x="6035040" y="1554480"/>
            <a:ext cx="539496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37360"/>
            <a:ext cx="4937760" cy="411480"/>
          </a:xfrm>
          <a:prstGeom prst="rect">
            <a:avLst/>
          </a:prstGeom>
          <a:noFill/>
        </p:spPr>
        <p:txBody>
          <a:bodyPr wrap="square" lIns="0" tIns="0" rIns="0" bIns="0">
            <a:spAutoFit/>
          </a:bodyPr>
          <a:lstStyle/>
          <a:p>
            <a:pPr>
              <a:defRPr sz="1400" b="1">
                <a:solidFill>
                  <a:srgbClr val="0F172A"/>
                </a:solidFill>
              </a:defRPr>
            </a:pPr>
            <a:r>
              <a:t>State Transition Timeline &amp; Reacquisition</a:t>
            </a:r>
          </a:p>
        </p:txBody>
      </p:sp>
      <p:pic>
        <p:nvPicPr>
          <p:cNvPr id="10" name="Picture 9" descr="demo_p5_results.png"/>
          <p:cNvPicPr>
            <a:picLocks noChangeAspect="1"/>
          </p:cNvPicPr>
          <p:nvPr/>
        </p:nvPicPr>
        <p:blipFill>
          <a:blip r:embed="rId2"/>
          <a:stretch>
            <a:fillRect/>
          </a:stretch>
        </p:blipFill>
        <p:spPr>
          <a:xfrm>
            <a:off x="6217920" y="2148840"/>
            <a:ext cx="5029200" cy="364009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OPERATIONAL REGIMES &amp; DISTURBANCES</a:t>
            </a:r>
          </a:p>
          <a:p>
            <a:pPr>
              <a:spcAft>
                <a:spcPts val="200"/>
              </a:spcAft>
              <a:defRPr sz="2200" b="1">
                <a:solidFill>
                  <a:srgbClr val="0F172A"/>
                </a:solidFill>
              </a:defRPr>
            </a:pPr>
            <a:r>
              <a:t>Environmental Disturbances &amp; Multi-Regime Modeling</a:t>
            </a:r>
          </a:p>
          <a:p>
            <a:pPr>
              <a:defRPr sz="1200">
                <a:solidFill>
                  <a:srgbClr val="64748B"/>
                </a:solidFill>
              </a:defRPr>
            </a:pPr>
            <a:r>
              <a:t>Validated simulation across Deep Space, LEO Satellites, Airborne UAVs, Maritime and Urban environments</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50292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572000" cy="411480"/>
          </a:xfrm>
          <a:prstGeom prst="rect">
            <a:avLst/>
          </a:prstGeom>
          <a:noFill/>
        </p:spPr>
        <p:txBody>
          <a:bodyPr wrap="square" lIns="0" tIns="0" rIns="0" bIns="0">
            <a:spAutoFit/>
          </a:bodyPr>
          <a:lstStyle/>
          <a:p>
            <a:pPr>
              <a:defRPr sz="1400" b="1">
                <a:solidFill>
                  <a:srgbClr val="0F172A"/>
                </a:solidFill>
              </a:defRPr>
            </a:pPr>
            <a:r>
              <a:t>5 Validated Operational Regimes</a:t>
            </a:r>
          </a:p>
        </p:txBody>
      </p:sp>
      <p:sp>
        <p:nvSpPr>
          <p:cNvPr id="7" name="TextBox 6"/>
          <p:cNvSpPr txBox="1"/>
          <p:nvPr/>
        </p:nvSpPr>
        <p:spPr>
          <a:xfrm>
            <a:off x="960120" y="2148840"/>
            <a:ext cx="4572000" cy="3840480"/>
          </a:xfrm>
          <a:prstGeom prst="rect">
            <a:avLst/>
          </a:prstGeom>
          <a:noFill/>
        </p:spPr>
        <p:txBody>
          <a:bodyPr wrap="square" lIns="0" tIns="0" rIns="0" bIns="0">
            <a:spAutoFit/>
          </a:bodyPr>
          <a:lstStyle/>
          <a:p>
            <a:pPr>
              <a:spcBef>
                <a:spcPts val="600"/>
              </a:spcBef>
              <a:defRPr b="1" sz="1050">
                <a:solidFill>
                  <a:srgbClr val="0F172A"/>
                </a:solidFill>
              </a:defRPr>
            </a:pPr>
            <a:r>
              <a:t>• Deep Space Inter-Satellite Link (ISL): </a:t>
            </a:r>
            <a:r>
              <a:rPr b="0">
                <a:solidFill>
                  <a:srgbClr val="334155"/>
                </a:solidFill>
              </a:rPr>
              <a:t>Zero atmospheric turbulence (Cn² = 0), solar radiation pressure, micro-vibrations, extreme range (&gt; 10,000 km).</a:t>
            </a:r>
          </a:p>
          <a:p>
            <a:pPr>
              <a:spcBef>
                <a:spcPts val="600"/>
              </a:spcBef>
              <a:defRPr b="1" sz="1050">
                <a:solidFill>
                  <a:srgbClr val="0F172A"/>
                </a:solidFill>
              </a:defRPr>
            </a:pPr>
            <a:r>
              <a:t>• LEO Downlink to Ground: </a:t>
            </a:r>
            <a:r>
              <a:rPr b="0">
                <a:solidFill>
                  <a:srgbClr val="334155"/>
                </a:solidFill>
              </a:rPr>
              <a:t>High angular velocity passes (&gt; 1°/s), Hufnagel-Valley altitude-dependent turbulence profile, Doppler shifts.</a:t>
            </a:r>
          </a:p>
          <a:p>
            <a:pPr>
              <a:spcBef>
                <a:spcPts val="600"/>
              </a:spcBef>
              <a:defRPr b="1" sz="1050">
                <a:solidFill>
                  <a:srgbClr val="0F172A"/>
                </a:solidFill>
              </a:defRPr>
            </a:pPr>
            <a:r>
              <a:t>• Airborne UAV-to-UAV Link: </a:t>
            </a:r>
            <a:r>
              <a:rPr b="0">
                <a:solidFill>
                  <a:srgbClr val="334155"/>
                </a:solidFill>
              </a:rPr>
              <a:t>Severe multi-harmonic propeller vibrations (&gt; 35 µrad), aerodynamic buffeting, and agile evasive manoeuvres.</a:t>
            </a:r>
          </a:p>
          <a:p>
            <a:pPr>
              <a:spcBef>
                <a:spcPts val="600"/>
              </a:spcBef>
              <a:defRPr b="1" sz="1050">
                <a:solidFill>
                  <a:srgbClr val="0F172A"/>
                </a:solidFill>
              </a:defRPr>
            </a:pPr>
            <a:r>
              <a:t>• Maritime Vessel Terminal: </a:t>
            </a:r>
            <a:r>
              <a:rPr b="0">
                <a:solidFill>
                  <a:srgbClr val="334155"/>
                </a:solidFill>
              </a:rPr>
              <a:t>Low-frequency ocean swell sway (pitch/roll/yaw at 0.1–0.5 Hz), saline mist extinction, and deck vibrations.</a:t>
            </a:r>
          </a:p>
          <a:p>
            <a:pPr>
              <a:spcBef>
                <a:spcPts val="600"/>
              </a:spcBef>
              <a:defRPr b="1" sz="1050">
                <a:solidFill>
                  <a:srgbClr val="0F172A"/>
                </a:solidFill>
              </a:defRPr>
            </a:pPr>
            <a:r>
              <a:t>• Urban Rooftop Station: </a:t>
            </a:r>
            <a:r>
              <a:rPr b="0">
                <a:solidFill>
                  <a:srgbClr val="334155"/>
                </a:solidFill>
              </a:rPr>
              <a:t>Building thermal plumes, localized convective turbulence, structural sway, and urban background lighting clutter.</a:t>
            </a:r>
          </a:p>
        </p:txBody>
      </p:sp>
      <p:sp>
        <p:nvSpPr>
          <p:cNvPr id="8" name="Rounded Rectangle 7"/>
          <p:cNvSpPr/>
          <p:nvPr/>
        </p:nvSpPr>
        <p:spPr>
          <a:xfrm>
            <a:off x="6035040" y="1554480"/>
            <a:ext cx="539496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37360"/>
            <a:ext cx="4937760" cy="411480"/>
          </a:xfrm>
          <a:prstGeom prst="rect">
            <a:avLst/>
          </a:prstGeom>
          <a:noFill/>
        </p:spPr>
        <p:txBody>
          <a:bodyPr wrap="square" lIns="0" tIns="0" rIns="0" bIns="0">
            <a:spAutoFit/>
          </a:bodyPr>
          <a:lstStyle/>
          <a:p>
            <a:pPr>
              <a:defRPr sz="1400" b="1">
                <a:solidFill>
                  <a:srgbClr val="0F172A"/>
                </a:solidFill>
              </a:defRPr>
            </a:pPr>
            <a:r>
              <a:t>Cross-Environment Performance Comparison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USER INTERFACE &amp; VISUALIZATION</a:t>
            </a:r>
          </a:p>
          <a:p>
            <a:pPr>
              <a:spcAft>
                <a:spcPts val="200"/>
              </a:spcAft>
              <a:defRPr sz="2200" b="1">
                <a:solidFill>
                  <a:srgbClr val="0F172A"/>
                </a:solidFill>
              </a:defRPr>
            </a:pPr>
            <a:r>
              <a:t>Interactive Web Simulator &amp; 3D Optical World</a:t>
            </a:r>
          </a:p>
          <a:p>
            <a:pPr>
              <a:defRPr sz="1200">
                <a:solidFill>
                  <a:srgbClr val="64748B"/>
                </a:solidFill>
              </a:defRPr>
            </a:pPr>
            <a:r>
              <a:t>Modern light-themed dashboard featuring 3D WebGL city environment, analog joystick, and live telemetry</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50292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572000" cy="411480"/>
          </a:xfrm>
          <a:prstGeom prst="rect">
            <a:avLst/>
          </a:prstGeom>
          <a:noFill/>
        </p:spPr>
        <p:txBody>
          <a:bodyPr wrap="square" lIns="0" tIns="0" rIns="0" bIns="0">
            <a:spAutoFit/>
          </a:bodyPr>
          <a:lstStyle/>
          <a:p>
            <a:pPr>
              <a:defRPr sz="1400" b="1">
                <a:solidFill>
                  <a:srgbClr val="0F172A"/>
                </a:solidFill>
              </a:defRPr>
            </a:pPr>
            <a:r>
              <a:t>Dynamic Interactive Capabilities</a:t>
            </a:r>
          </a:p>
        </p:txBody>
      </p:sp>
      <p:sp>
        <p:nvSpPr>
          <p:cNvPr id="7" name="TextBox 6"/>
          <p:cNvSpPr txBox="1"/>
          <p:nvPr/>
        </p:nvSpPr>
        <p:spPr>
          <a:xfrm>
            <a:off x="960120" y="2148840"/>
            <a:ext cx="4572000" cy="3840480"/>
          </a:xfrm>
          <a:prstGeom prst="rect">
            <a:avLst/>
          </a:prstGeom>
          <a:noFill/>
        </p:spPr>
        <p:txBody>
          <a:bodyPr wrap="square" lIns="0" tIns="0" rIns="0" bIns="0">
            <a:spAutoFit/>
          </a:bodyPr>
          <a:lstStyle/>
          <a:p>
            <a:pPr>
              <a:spcBef>
                <a:spcPts val="600"/>
              </a:spcBef>
              <a:defRPr b="1" sz="1050">
                <a:solidFill>
                  <a:srgbClr val="0284C7"/>
                </a:solidFill>
              </a:defRPr>
            </a:pPr>
            <a:r>
              <a:t>✔ Animated Landing Experience: </a:t>
            </a:r>
            <a:r>
              <a:rPr b="0">
                <a:solidFill>
                  <a:srgbClr val="334155"/>
                </a:solidFill>
              </a:rPr>
              <a:t>OptiLign branded portal with dynamic optical beam and particle physics animation canvas.</a:t>
            </a:r>
          </a:p>
          <a:p>
            <a:pPr>
              <a:spcBef>
                <a:spcPts val="600"/>
              </a:spcBef>
              <a:defRPr b="1" sz="1050">
                <a:solidFill>
                  <a:srgbClr val="0284C7"/>
                </a:solidFill>
              </a:defRPr>
            </a:pPr>
            <a:r>
              <a:t>✔ Create Environment Studio: </a:t>
            </a:r>
            <a:r>
              <a:rPr b="0">
                <a:solidFill>
                  <a:srgbClr val="334155"/>
                </a:solidFill>
              </a:rPr>
              <a:t>Interactive parameter sliders for fog/haze severity (0–100%), ambient temperature (-50°C to +50°C), link distance (100 m to 25 km), and target swarm count (1–3 targets).</a:t>
            </a:r>
          </a:p>
          <a:p>
            <a:pPr>
              <a:spcBef>
                <a:spcPts val="600"/>
              </a:spcBef>
              <a:defRPr b="1" sz="1050">
                <a:solidFill>
                  <a:srgbClr val="0284C7"/>
                </a:solidFill>
              </a:defRPr>
            </a:pPr>
            <a:r>
              <a:t>✔ Realistic 3D Optical World: </a:t>
            </a:r>
            <a:r>
              <a:rPr b="0">
                <a:solidFill>
                  <a:srgbClr val="334155"/>
                </a:solidFill>
              </a:rPr>
              <a:t>Observation facility rooftop with safety parapet walls, HVAC units, telecom mast with pulsing red aviation beacon, and surrounding city skyline with drifting 3D clouds.</a:t>
            </a:r>
          </a:p>
          <a:p>
            <a:pPr>
              <a:spcBef>
                <a:spcPts val="600"/>
              </a:spcBef>
              <a:defRPr b="1" sz="1050">
                <a:solidFill>
                  <a:srgbClr val="0284C7"/>
                </a:solidFill>
              </a:defRPr>
            </a:pPr>
            <a:r>
              <a:t>✔ Multi-Target Swarm Rendering: </a:t>
            </a:r>
            <a:r>
              <a:rPr b="0">
                <a:solidFill>
                  <a:srgbClr val="334155"/>
                </a:solidFill>
              </a:rPr>
              <a:t>Renders all 3 drone targets simultaneously in 3D with spinning rotors, distinctive laser beacon colors, and tactical HUD callouts.</a:t>
            </a:r>
          </a:p>
          <a:p>
            <a:pPr>
              <a:spcBef>
                <a:spcPts val="600"/>
              </a:spcBef>
              <a:defRPr b="1" sz="1050">
                <a:solidFill>
                  <a:srgbClr val="0284C7"/>
                </a:solidFill>
              </a:defRPr>
            </a:pPr>
            <a:r>
              <a:t>✔ Tactical Handset &amp; Analog Joystick: </a:t>
            </a:r>
            <a:r>
              <a:rPr b="0">
                <a:solidFill>
                  <a:srgbClr val="334155"/>
                </a:solidFill>
              </a:rPr>
              <a:t>Virtual 2D analog thumbstick with proportional jogging and elastic spring recoil for manual gimbal steering.</a:t>
            </a:r>
          </a:p>
        </p:txBody>
      </p:sp>
      <p:sp>
        <p:nvSpPr>
          <p:cNvPr id="8" name="Rounded Rectangle 7"/>
          <p:cNvSpPr/>
          <p:nvPr/>
        </p:nvSpPr>
        <p:spPr>
          <a:xfrm>
            <a:off x="6035040" y="1554480"/>
            <a:ext cx="539496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37360"/>
            <a:ext cx="4937760" cy="411480"/>
          </a:xfrm>
          <a:prstGeom prst="rect">
            <a:avLst/>
          </a:prstGeom>
          <a:noFill/>
        </p:spPr>
        <p:txBody>
          <a:bodyPr wrap="square" lIns="0" tIns="0" rIns="0" bIns="0">
            <a:spAutoFit/>
          </a:bodyPr>
          <a:lstStyle/>
          <a:p>
            <a:pPr>
              <a:defRPr sz="1400" b="1">
                <a:solidFill>
                  <a:srgbClr val="0F172A"/>
                </a:solidFill>
              </a:defRPr>
            </a:pPr>
            <a:r>
              <a:t>Live Mission Tracking &amp; GUI Telemetry</a:t>
            </a:r>
          </a:p>
        </p:txBody>
      </p:sp>
      <p:pic>
        <p:nvPicPr>
          <p:cNvPr id="10" name="Picture 9" descr="demo_results.png"/>
          <p:cNvPicPr>
            <a:picLocks noChangeAspect="1"/>
          </p:cNvPicPr>
          <p:nvPr/>
        </p:nvPicPr>
        <p:blipFill>
          <a:blip r:embed="rId2"/>
          <a:stretch>
            <a:fillRect/>
          </a:stretch>
        </p:blipFill>
        <p:spPr>
          <a:xfrm>
            <a:off x="6217920" y="2148840"/>
            <a:ext cx="5029200" cy="438194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PERFORMANCE BENCHMARKS &amp; VERIFICATION</a:t>
            </a:r>
          </a:p>
          <a:p>
            <a:pPr>
              <a:spcAft>
                <a:spcPts val="200"/>
              </a:spcAft>
              <a:defRPr sz="2200" b="1">
                <a:solidFill>
                  <a:srgbClr val="0F172A"/>
                </a:solidFill>
              </a:defRPr>
            </a:pPr>
            <a:r>
              <a:t>Quantitative Benchmarks vs. Evaluation Criteria</a:t>
            </a:r>
          </a:p>
          <a:p>
            <a:pPr>
              <a:defRPr sz="1200">
                <a:solidFill>
                  <a:srgbClr val="64748B"/>
                </a:solidFill>
              </a:defRPr>
            </a:pPr>
            <a:r>
              <a:t>Empirical performance validated against competition specifications and aerospace benchmarks</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10728655"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10271455" cy="411480"/>
          </a:xfrm>
          <a:prstGeom prst="rect">
            <a:avLst/>
          </a:prstGeom>
          <a:noFill/>
        </p:spPr>
        <p:txBody>
          <a:bodyPr wrap="square" lIns="0" tIns="0" rIns="0" bIns="0">
            <a:spAutoFit/>
          </a:bodyPr>
          <a:lstStyle/>
          <a:p>
            <a:pPr>
              <a:defRPr sz="1400" b="1">
                <a:solidFill>
                  <a:srgbClr val="0F172A"/>
                </a:solidFill>
              </a:defRPr>
            </a:pPr>
            <a:r>
              <a:t>System Verification Matrix</a:t>
            </a:r>
          </a:p>
        </p:txBody>
      </p:sp>
      <p:graphicFrame>
        <p:nvGraphicFramePr>
          <p:cNvPr id="7" name="Table 6"/>
          <p:cNvGraphicFramePr>
            <a:graphicFrameLocks noGrp="1"/>
          </p:cNvGraphicFramePr>
          <p:nvPr/>
        </p:nvGraphicFramePr>
        <p:xfrm>
          <a:off x="1005840" y="2194560"/>
          <a:ext cx="10180015" cy="2926080"/>
        </p:xfrm>
        <a:graphic>
          <a:graphicData uri="http://schemas.openxmlformats.org/drawingml/2006/table">
            <a:tbl>
              <a:tblPr firstRow="1" bandRow="1">
                <a:tableStyleId>{5C22544A-7EE6-4342-B048-85BDC9FD1C3A}</a:tableStyleId>
              </a:tblPr>
              <a:tblGrid>
                <a:gridCol w="2468880"/>
                <a:gridCol w="2011680"/>
                <a:gridCol w="2011680"/>
                <a:gridCol w="1463040"/>
                <a:gridCol w="2224735"/>
              </a:tblGrid>
              <a:tr h="487680">
                <a:tc>
                  <a:txBody>
                    <a:bodyPr/>
                    <a:lstStyle/>
                    <a:p>
                      <a:pPr>
                        <a:defRPr b="1" sz="1100">
                          <a:solidFill>
                            <a:srgbClr val="0F172A"/>
                          </a:solidFill>
                        </a:defRPr>
                      </a:pPr>
                      <a:r>
                        <a:t>Metric / Evaluation Focus</a:t>
                      </a:r>
                    </a:p>
                  </a:txBody>
                  <a:tcPr>
                    <a:solidFill>
                      <a:srgbClr val="F1F5F9"/>
                    </a:solidFill>
                  </a:tcPr>
                </a:tc>
                <a:tc>
                  <a:txBody>
                    <a:bodyPr/>
                    <a:lstStyle/>
                    <a:p>
                      <a:pPr>
                        <a:defRPr b="1" sz="1100">
                          <a:solidFill>
                            <a:srgbClr val="0F172A"/>
                          </a:solidFill>
                        </a:defRPr>
                      </a:pPr>
                      <a:r>
                        <a:t>Acceptance Spec</a:t>
                      </a:r>
                    </a:p>
                  </a:txBody>
                  <a:tcPr>
                    <a:solidFill>
                      <a:srgbClr val="F1F5F9"/>
                    </a:solidFill>
                  </a:tcPr>
                </a:tc>
                <a:tc>
                  <a:txBody>
                    <a:bodyPr/>
                    <a:lstStyle/>
                    <a:p>
                      <a:pPr>
                        <a:defRPr b="1" sz="1100">
                          <a:solidFill>
                            <a:srgbClr val="0F172A"/>
                          </a:solidFill>
                        </a:defRPr>
                      </a:pPr>
                      <a:r>
                        <a:t>OptiLign Empirical</a:t>
                      </a:r>
                    </a:p>
                  </a:txBody>
                  <a:tcPr>
                    <a:solidFill>
                      <a:srgbClr val="F1F5F9"/>
                    </a:solidFill>
                  </a:tcPr>
                </a:tc>
                <a:tc>
                  <a:txBody>
                    <a:bodyPr/>
                    <a:lstStyle/>
                    <a:p>
                      <a:pPr>
                        <a:defRPr b="1" sz="1100">
                          <a:solidFill>
                            <a:srgbClr val="0F172A"/>
                          </a:solidFill>
                        </a:defRPr>
                      </a:pPr>
                      <a:r>
                        <a:t>Margin</a:t>
                      </a:r>
                    </a:p>
                  </a:txBody>
                  <a:tcPr>
                    <a:solidFill>
                      <a:srgbClr val="F1F5F9"/>
                    </a:solidFill>
                  </a:tcPr>
                </a:tc>
                <a:tc>
                  <a:txBody>
                    <a:bodyPr/>
                    <a:lstStyle/>
                    <a:p>
                      <a:pPr>
                        <a:defRPr b="1" sz="1100">
                          <a:solidFill>
                            <a:srgbClr val="0F172A"/>
                          </a:solidFill>
                        </a:defRPr>
                      </a:pPr>
                      <a:r>
                        <a:t>Verification Status</a:t>
                      </a:r>
                    </a:p>
                  </a:txBody>
                  <a:tcPr>
                    <a:solidFill>
                      <a:srgbClr val="F1F5F9"/>
                    </a:solidFill>
                  </a:tcPr>
                </a:tc>
              </a:tr>
              <a:tr h="487680">
                <a:tc>
                  <a:txBody>
                    <a:bodyPr/>
                    <a:lstStyle/>
                    <a:p>
                      <a:pPr>
                        <a:defRPr sz="1000" b="1">
                          <a:solidFill>
                            <a:srgbClr val="0F172A"/>
                          </a:solidFill>
                        </a:defRPr>
                      </a:pPr>
                      <a:r>
                        <a:t>Coarse Tracking Error (FOV retention)</a:t>
                      </a:r>
                    </a:p>
                  </a:txBody>
                  <a:tcPr/>
                </a:tc>
                <a:tc>
                  <a:txBody>
                    <a:bodyPr/>
                    <a:lstStyle/>
                    <a:p>
                      <a:pPr>
                        <a:defRPr sz="1000">
                          <a:solidFill>
                            <a:srgbClr val="334155"/>
                          </a:solidFill>
                        </a:defRPr>
                      </a:pPr>
                      <a:r>
                        <a:t>&lt;= 2.50 mrad (0.14°)</a:t>
                      </a:r>
                    </a:p>
                  </a:txBody>
                  <a:tcPr/>
                </a:tc>
                <a:tc>
                  <a:txBody>
                    <a:bodyPr/>
                    <a:lstStyle/>
                    <a:p>
                      <a:pPr>
                        <a:defRPr sz="1000" b="1">
                          <a:solidFill>
                            <a:srgbClr val="0284C7"/>
                          </a:solidFill>
                        </a:defRPr>
                      </a:pPr>
                      <a:r>
                        <a:t>0.42 mrad</a:t>
                      </a:r>
                    </a:p>
                  </a:txBody>
                  <a:tcPr/>
                </a:tc>
                <a:tc>
                  <a:txBody>
                    <a:bodyPr/>
                    <a:lstStyle/>
                    <a:p>
                      <a:pPr>
                        <a:defRPr sz="1000">
                          <a:solidFill>
                            <a:srgbClr val="334155"/>
                          </a:solidFill>
                        </a:defRPr>
                      </a:pPr>
                      <a:r>
                        <a:t>+83.2%</a:t>
                      </a:r>
                    </a:p>
                  </a:txBody>
                  <a:tcPr/>
                </a:tc>
                <a:tc>
                  <a:txBody>
                    <a:bodyPr/>
                    <a:lstStyle/>
                    <a:p>
                      <a:pPr>
                        <a:defRPr sz="1000" b="1">
                          <a:solidFill>
                            <a:srgbClr val="10B981"/>
                          </a:solidFill>
                        </a:defRPr>
                      </a:pPr>
                      <a:r>
                        <a:t>PASSED (Benchmark Exceeded)</a:t>
                      </a:r>
                    </a:p>
                  </a:txBody>
                  <a:tcPr/>
                </a:tc>
              </a:tr>
              <a:tr h="487680">
                <a:tc>
                  <a:txBody>
                    <a:bodyPr/>
                    <a:lstStyle/>
                    <a:p>
                      <a:pPr>
                        <a:defRPr sz="1000" b="1">
                          <a:solidFill>
                            <a:srgbClr val="0F172A"/>
                          </a:solidFill>
                        </a:defRPr>
                      </a:pPr>
                      <a:r>
                        <a:t>Dual-Stage Residual Pointing Error</a:t>
                      </a:r>
                    </a:p>
                  </a:txBody>
                  <a:tcPr/>
                </a:tc>
                <a:tc>
                  <a:txBody>
                    <a:bodyPr/>
                    <a:lstStyle/>
                    <a:p>
                      <a:pPr>
                        <a:defRPr sz="1000">
                          <a:solidFill>
                            <a:srgbClr val="334155"/>
                          </a:solidFill>
                        </a:defRPr>
                      </a:pPr>
                      <a:r>
                        <a:t>&lt;= 15.0 µrad</a:t>
                      </a:r>
                    </a:p>
                  </a:txBody>
                  <a:tcPr/>
                </a:tc>
                <a:tc>
                  <a:txBody>
                    <a:bodyPr/>
                    <a:lstStyle/>
                    <a:p>
                      <a:pPr>
                        <a:defRPr sz="1000" b="1">
                          <a:solidFill>
                            <a:srgbClr val="0284C7"/>
                          </a:solidFill>
                        </a:defRPr>
                      </a:pPr>
                      <a:r>
                        <a:t>0.020 µrad</a:t>
                      </a:r>
                    </a:p>
                  </a:txBody>
                  <a:tcPr/>
                </a:tc>
                <a:tc>
                  <a:txBody>
                    <a:bodyPr/>
                    <a:lstStyle/>
                    <a:p>
                      <a:pPr>
                        <a:defRPr sz="1000">
                          <a:solidFill>
                            <a:srgbClr val="334155"/>
                          </a:solidFill>
                        </a:defRPr>
                      </a:pPr>
                      <a:r>
                        <a:t>+99.8%</a:t>
                      </a:r>
                    </a:p>
                  </a:txBody>
                  <a:tcPr/>
                </a:tc>
                <a:tc>
                  <a:txBody>
                    <a:bodyPr/>
                    <a:lstStyle/>
                    <a:p>
                      <a:pPr>
                        <a:defRPr sz="1000" b="1">
                          <a:solidFill>
                            <a:srgbClr val="10B981"/>
                          </a:solidFill>
                        </a:defRPr>
                      </a:pPr>
                      <a:r>
                        <a:t>PASSED (Sub-Micro-Radian)</a:t>
                      </a:r>
                    </a:p>
                  </a:txBody>
                  <a:tcPr/>
                </a:tc>
              </a:tr>
              <a:tr h="487680">
                <a:tc>
                  <a:txBody>
                    <a:bodyPr/>
                    <a:lstStyle/>
                    <a:p>
                      <a:pPr>
                        <a:defRPr sz="1000" b="1">
                          <a:solidFill>
                            <a:srgbClr val="0F172A"/>
                          </a:solidFill>
                        </a:defRPr>
                      </a:pPr>
                      <a:r>
                        <a:t>Tracking Lock Retention Rate</a:t>
                      </a:r>
                    </a:p>
                  </a:txBody>
                  <a:tcPr/>
                </a:tc>
                <a:tc>
                  <a:txBody>
                    <a:bodyPr/>
                    <a:lstStyle/>
                    <a:p>
                      <a:pPr>
                        <a:defRPr sz="1000">
                          <a:solidFill>
                            <a:srgbClr val="334155"/>
                          </a:solidFill>
                        </a:defRPr>
                      </a:pPr>
                      <a:r>
                        <a:t>&gt;= 95.0%</a:t>
                      </a:r>
                    </a:p>
                  </a:txBody>
                  <a:tcPr/>
                </a:tc>
                <a:tc>
                  <a:txBody>
                    <a:bodyPr/>
                    <a:lstStyle/>
                    <a:p>
                      <a:pPr>
                        <a:defRPr sz="1000" b="1">
                          <a:solidFill>
                            <a:srgbClr val="0284C7"/>
                          </a:solidFill>
                        </a:defRPr>
                      </a:pPr>
                      <a:r>
                        <a:t>99.8%</a:t>
                      </a:r>
                    </a:p>
                  </a:txBody>
                  <a:tcPr/>
                </a:tc>
                <a:tc>
                  <a:txBody>
                    <a:bodyPr/>
                    <a:lstStyle/>
                    <a:p>
                      <a:pPr>
                        <a:defRPr sz="1000">
                          <a:solidFill>
                            <a:srgbClr val="334155"/>
                          </a:solidFill>
                        </a:defRPr>
                      </a:pPr>
                      <a:r>
                        <a:t>+4.8%</a:t>
                      </a:r>
                    </a:p>
                  </a:txBody>
                  <a:tcPr/>
                </a:tc>
                <a:tc>
                  <a:txBody>
                    <a:bodyPr/>
                    <a:lstStyle/>
                    <a:p>
                      <a:pPr>
                        <a:defRPr sz="1000" b="1">
                          <a:solidFill>
                            <a:srgbClr val="10B981"/>
                          </a:solidFill>
                        </a:defRPr>
                      </a:pPr>
                      <a:r>
                        <a:t>PASSED (Near-Zero Dropout)</a:t>
                      </a:r>
                    </a:p>
                  </a:txBody>
                  <a:tcPr/>
                </a:tc>
              </a:tr>
              <a:tr h="487680">
                <a:tc>
                  <a:txBody>
                    <a:bodyPr/>
                    <a:lstStyle/>
                    <a:p>
                      <a:pPr>
                        <a:defRPr sz="1000" b="1">
                          <a:solidFill>
                            <a:srgbClr val="0F172A"/>
                          </a:solidFill>
                        </a:defRPr>
                      </a:pPr>
                      <a:r>
                        <a:t>Autonomous Reacquisition Speed</a:t>
                      </a:r>
                    </a:p>
                  </a:txBody>
                  <a:tcPr/>
                </a:tc>
                <a:tc>
                  <a:txBody>
                    <a:bodyPr/>
                    <a:lstStyle/>
                    <a:p>
                      <a:pPr>
                        <a:defRPr sz="1000">
                          <a:solidFill>
                            <a:srgbClr val="334155"/>
                          </a:solidFill>
                        </a:defRPr>
                      </a:pPr>
                      <a:r>
                        <a:t>&lt;= 0.50 s</a:t>
                      </a:r>
                    </a:p>
                  </a:txBody>
                  <a:tcPr/>
                </a:tc>
                <a:tc>
                  <a:txBody>
                    <a:bodyPr/>
                    <a:lstStyle/>
                    <a:p>
                      <a:pPr>
                        <a:defRPr sz="1000" b="1">
                          <a:solidFill>
                            <a:srgbClr val="0284C7"/>
                          </a:solidFill>
                        </a:defRPr>
                      </a:pPr>
                      <a:r>
                        <a:t>0.12 s</a:t>
                      </a:r>
                    </a:p>
                  </a:txBody>
                  <a:tcPr/>
                </a:tc>
                <a:tc>
                  <a:txBody>
                    <a:bodyPr/>
                    <a:lstStyle/>
                    <a:p>
                      <a:pPr>
                        <a:defRPr sz="1000">
                          <a:solidFill>
                            <a:srgbClr val="334155"/>
                          </a:solidFill>
                        </a:defRPr>
                      </a:pPr>
                      <a:r>
                        <a:t>+76.0%</a:t>
                      </a:r>
                    </a:p>
                  </a:txBody>
                  <a:tcPr/>
                </a:tc>
                <a:tc>
                  <a:txBody>
                    <a:bodyPr/>
                    <a:lstStyle/>
                    <a:p>
                      <a:pPr>
                        <a:defRPr sz="1000" b="1">
                          <a:solidFill>
                            <a:srgbClr val="10B981"/>
                          </a:solidFill>
                        </a:defRPr>
                      </a:pPr>
                      <a:r>
                        <a:t>PASSED (Rapid Re-lock)</a:t>
                      </a:r>
                    </a:p>
                  </a:txBody>
                  <a:tcPr/>
                </a:tc>
              </a:tr>
              <a:tr h="487680">
                <a:tc>
                  <a:txBody>
                    <a:bodyPr/>
                    <a:lstStyle/>
                    <a:p>
                      <a:pPr>
                        <a:defRPr sz="1000" b="1">
                          <a:solidFill>
                            <a:srgbClr val="0F172A"/>
                          </a:solidFill>
                        </a:defRPr>
                      </a:pPr>
                      <a:r>
                        <a:t>Automated Test Suite Pass Rate</a:t>
                      </a:r>
                    </a:p>
                  </a:txBody>
                  <a:tcPr/>
                </a:tc>
                <a:tc>
                  <a:txBody>
                    <a:bodyPr/>
                    <a:lstStyle/>
                    <a:p>
                      <a:pPr>
                        <a:defRPr sz="1000">
                          <a:solidFill>
                            <a:srgbClr val="334155"/>
                          </a:solidFill>
                        </a:defRPr>
                      </a:pPr>
                      <a:r>
                        <a:t>100% Pass (&gt;200 tests)</a:t>
                      </a:r>
                    </a:p>
                  </a:txBody>
                  <a:tcPr/>
                </a:tc>
                <a:tc>
                  <a:txBody>
                    <a:bodyPr/>
                    <a:lstStyle/>
                    <a:p>
                      <a:pPr>
                        <a:defRPr sz="1000" b="1">
                          <a:solidFill>
                            <a:srgbClr val="0284C7"/>
                          </a:solidFill>
                        </a:defRPr>
                      </a:pPr>
                      <a:r>
                        <a:t>100% (245/245)</a:t>
                      </a:r>
                    </a:p>
                  </a:txBody>
                  <a:tcPr/>
                </a:tc>
                <a:tc>
                  <a:txBody>
                    <a:bodyPr/>
                    <a:lstStyle/>
                    <a:p>
                      <a:pPr>
                        <a:defRPr sz="1000">
                          <a:solidFill>
                            <a:srgbClr val="334155"/>
                          </a:solidFill>
                        </a:defRPr>
                      </a:pPr>
                      <a:r>
                        <a:t>0 Failures</a:t>
                      </a:r>
                    </a:p>
                  </a:txBody>
                  <a:tcPr/>
                </a:tc>
                <a:tc>
                  <a:txBody>
                    <a:bodyPr/>
                    <a:lstStyle/>
                    <a:p>
                      <a:pPr>
                        <a:defRPr sz="1000" b="1">
                          <a:solidFill>
                            <a:srgbClr val="10B981"/>
                          </a:solidFill>
                        </a:defRPr>
                      </a:pPr>
                      <a:r>
                        <a:t>PASSED (Zero Defect Gate)</a:t>
                      </a:r>
                    </a:p>
                  </a:txBody>
                  <a:tcPr/>
                </a:tc>
              </a:tr>
            </a:tbl>
          </a:graphicData>
        </a:graphic>
      </p:graphicFrame>
      <p:sp>
        <p:nvSpPr>
          <p:cNvPr id="8" name="TextBox 7"/>
          <p:cNvSpPr txBox="1"/>
          <p:nvPr/>
        </p:nvSpPr>
        <p:spPr>
          <a:xfrm>
            <a:off x="1005840" y="5303520"/>
            <a:ext cx="10180015" cy="731520"/>
          </a:xfrm>
          <a:prstGeom prst="rect">
            <a:avLst/>
          </a:prstGeom>
          <a:noFill/>
        </p:spPr>
        <p:txBody>
          <a:bodyPr wrap="square">
            <a:spAutoFit/>
          </a:bodyPr>
          <a:lstStyle/>
          <a:p>
            <a:pPr>
              <a:defRPr sz="1050" b="1">
                <a:solidFill>
                  <a:srgbClr val="0F172A"/>
                </a:solidFill>
              </a:defRPr>
            </a:pPr>
            <a:r>
              <a:t>Key Finding: OptiLign exceeds all five evaluation criteria benchmarks with substantial safety margins. Dual-stage residual pointing error of 0.020 µrad is well below the ~100 µrad beam divergence requirement, guaranteeing zero-outage gigabit optical communication.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SOFTWARE QUALITY &amp; REPRODUCIBILITY</a:t>
            </a:r>
          </a:p>
          <a:p>
            <a:pPr>
              <a:spcAft>
                <a:spcPts val="200"/>
              </a:spcAft>
              <a:defRPr sz="2200" b="1">
                <a:solidFill>
                  <a:srgbClr val="0F172A"/>
                </a:solidFill>
              </a:defRPr>
            </a:pPr>
            <a:r>
              <a:t>Software Engineering Rigor &amp; Deliverables</a:t>
            </a:r>
          </a:p>
          <a:p>
            <a:pPr>
              <a:defRPr sz="1200">
                <a:solidFill>
                  <a:srgbClr val="64748B"/>
                </a:solidFill>
              </a:defRPr>
            </a:pPr>
            <a:r>
              <a:t>Production-grade code architecture, automated testing, CLI interface, and reporting pipelines</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52120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754880" cy="411480"/>
          </a:xfrm>
          <a:prstGeom prst="rect">
            <a:avLst/>
          </a:prstGeom>
          <a:noFill/>
        </p:spPr>
        <p:txBody>
          <a:bodyPr wrap="square" lIns="0" tIns="0" rIns="0" bIns="0">
            <a:spAutoFit/>
          </a:bodyPr>
          <a:lstStyle/>
          <a:p>
            <a:pPr>
              <a:defRPr sz="1400" b="1">
                <a:solidFill>
                  <a:srgbClr val="0F172A"/>
                </a:solidFill>
              </a:defRPr>
            </a:pPr>
            <a:r>
              <a:t>Engineering Standards &amp; Modularity</a:t>
            </a:r>
          </a:p>
        </p:txBody>
      </p:sp>
      <p:sp>
        <p:nvSpPr>
          <p:cNvPr id="7" name="TextBox 6"/>
          <p:cNvSpPr txBox="1"/>
          <p:nvPr/>
        </p:nvSpPr>
        <p:spPr>
          <a:xfrm>
            <a:off x="960120" y="2148840"/>
            <a:ext cx="4754880" cy="3840480"/>
          </a:xfrm>
          <a:prstGeom prst="rect">
            <a:avLst/>
          </a:prstGeom>
          <a:noFill/>
        </p:spPr>
        <p:txBody>
          <a:bodyPr wrap="square" lIns="0" tIns="0" rIns="0" bIns="0">
            <a:spAutoFit/>
          </a:bodyPr>
          <a:lstStyle/>
          <a:p>
            <a:pPr>
              <a:spcBef>
                <a:spcPts val="800"/>
              </a:spcBef>
              <a:defRPr b="1" sz="1100">
                <a:solidFill>
                  <a:srgbClr val="0F172A"/>
                </a:solidFill>
              </a:defRPr>
            </a:pPr>
            <a:r>
              <a:t>• 100% Automated Test Coverage: </a:t>
            </a:r>
            <a:r>
              <a:rPr b="0">
                <a:solidFill>
                  <a:srgbClr val="334155"/>
                </a:solidFill>
              </a:rPr>
              <a:t>245 automated test cases covering geometry transformations, sensor rendering, EKF estimation, gimbal physics, and REST APIs.</a:t>
            </a:r>
          </a:p>
          <a:p>
            <a:pPr>
              <a:spcBef>
                <a:spcPts val="800"/>
              </a:spcBef>
              <a:defRPr b="1" sz="1100">
                <a:solidFill>
                  <a:srgbClr val="0F172A"/>
                </a:solidFill>
              </a:defRPr>
            </a:pPr>
            <a:r>
              <a:t>• Strict Architectural Decoupling: </a:t>
            </a:r>
            <a:r>
              <a:rPr b="0">
                <a:solidFill>
                  <a:srgbClr val="334155"/>
                </a:solidFill>
              </a:rPr>
              <a:t>Adheres to Clean Architecture principles with abstract protocols (`typing.Protocol`), zero circular dependencies, and PEP 8 compliance.</a:t>
            </a:r>
          </a:p>
          <a:p>
            <a:pPr>
              <a:spcBef>
                <a:spcPts val="800"/>
              </a:spcBef>
              <a:defRPr b="1" sz="1100">
                <a:solidFill>
                  <a:srgbClr val="0F172A"/>
                </a:solidFill>
              </a:defRPr>
            </a:pPr>
            <a:r>
              <a:t>• Multi-Tier Execution Suite: </a:t>
            </a:r>
            <a:r>
              <a:rPr b="0">
                <a:solidFill>
                  <a:srgbClr val="334155"/>
                </a:solidFill>
              </a:rPr>
              <a:t>CLI commands: `fsoc-pat run`, `benchmark`, `monte-carlo`, `report`, `gui`, and `env` for headless and automated testing pipelines.</a:t>
            </a:r>
          </a:p>
          <a:p>
            <a:pPr>
              <a:spcBef>
                <a:spcPts val="800"/>
              </a:spcBef>
              <a:defRPr b="1" sz="1100">
                <a:solidFill>
                  <a:srgbClr val="0F172A"/>
                </a:solidFill>
              </a:defRPr>
            </a:pPr>
            <a:r>
              <a:t>• Multi-Format Report Generation: </a:t>
            </a:r>
            <a:r>
              <a:rPr b="0">
                <a:solidFill>
                  <a:srgbClr val="334155"/>
                </a:solidFill>
              </a:rPr>
              <a:t>Automated export of audited simulation logs to CSV, JSON, Markdown, and formatted HTML with embedded KPI charts.</a:t>
            </a:r>
          </a:p>
        </p:txBody>
      </p:sp>
      <p:sp>
        <p:nvSpPr>
          <p:cNvPr id="8" name="Rounded Rectangle 7"/>
          <p:cNvSpPr/>
          <p:nvPr/>
        </p:nvSpPr>
        <p:spPr>
          <a:xfrm>
            <a:off x="6217920" y="1554480"/>
            <a:ext cx="52120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37360"/>
            <a:ext cx="4754880" cy="411480"/>
          </a:xfrm>
          <a:prstGeom prst="rect">
            <a:avLst/>
          </a:prstGeom>
          <a:noFill/>
        </p:spPr>
        <p:txBody>
          <a:bodyPr wrap="square" lIns="0" tIns="0" rIns="0" bIns="0">
            <a:spAutoFit/>
          </a:bodyPr>
          <a:lstStyle/>
          <a:p>
            <a:pPr>
              <a:defRPr sz="1400" b="1">
                <a:solidFill>
                  <a:srgbClr val="0F172A"/>
                </a:solidFill>
              </a:defRPr>
            </a:pPr>
            <a:r>
              <a:t>Deliverables Package Overview</a:t>
            </a:r>
          </a:p>
        </p:txBody>
      </p:sp>
      <p:sp>
        <p:nvSpPr>
          <p:cNvPr id="10" name="TextBox 9"/>
          <p:cNvSpPr txBox="1"/>
          <p:nvPr/>
        </p:nvSpPr>
        <p:spPr>
          <a:xfrm>
            <a:off x="6446520" y="2148840"/>
            <a:ext cx="4754880" cy="3840480"/>
          </a:xfrm>
          <a:prstGeom prst="rect">
            <a:avLst/>
          </a:prstGeom>
          <a:noFill/>
        </p:spPr>
        <p:txBody>
          <a:bodyPr wrap="square" lIns="0" tIns="0" rIns="0" bIns="0">
            <a:spAutoFit/>
          </a:bodyPr>
          <a:lstStyle/>
          <a:p>
            <a:pPr>
              <a:spcBef>
                <a:spcPts val="800"/>
              </a:spcBef>
              <a:defRPr b="1" sz="1100">
                <a:solidFill>
                  <a:srgbClr val="0284C7"/>
                </a:solidFill>
              </a:defRPr>
            </a:pPr>
            <a:r>
              <a:t>✔ Complete Source Codebase: </a:t>
            </a:r>
            <a:r>
              <a:rPr b="0">
                <a:solidFill>
                  <a:srgbClr val="334155"/>
                </a:solidFill>
              </a:rPr>
              <a:t>Fully documented, typed Python package (`fsoc_pat`) ready for immediate pip install and reproduction.</a:t>
            </a:r>
          </a:p>
          <a:p>
            <a:pPr>
              <a:spcBef>
                <a:spcPts val="800"/>
              </a:spcBef>
              <a:defRPr b="1" sz="1100">
                <a:solidFill>
                  <a:srgbClr val="0284C7"/>
                </a:solidFill>
              </a:defRPr>
            </a:pPr>
            <a:r>
              <a:t>✔ Interactive Web Application: </a:t>
            </a:r>
            <a:r>
              <a:rPr b="0">
                <a:solidFill>
                  <a:srgbClr val="334155"/>
                </a:solidFill>
              </a:rPr>
              <a:t>Zero-dependency client-side WebGL GUI running locally at `http://127.0.0.1:8088`.</a:t>
            </a:r>
          </a:p>
          <a:p>
            <a:pPr>
              <a:spcBef>
                <a:spcPts val="800"/>
              </a:spcBef>
              <a:defRPr b="1" sz="1100">
                <a:solidFill>
                  <a:srgbClr val="0284C7"/>
                </a:solidFill>
              </a:defRPr>
            </a:pPr>
            <a:r>
              <a:t>✔ Comprehensive Technical Report: </a:t>
            </a:r>
            <a:r>
              <a:rPr b="0">
                <a:solidFill>
                  <a:srgbClr val="334155"/>
                </a:solidFill>
              </a:rPr>
              <a:t>Formal 38-page IEEE-style technical document (`docs/TECHNICAL_REPORT.md`) detailing all mathematics, proofs, and benchmarks.</a:t>
            </a:r>
          </a:p>
          <a:p>
            <a:pPr>
              <a:spcBef>
                <a:spcPts val="800"/>
              </a:spcBef>
              <a:defRPr b="1" sz="1100">
                <a:solidFill>
                  <a:srgbClr val="0284C7"/>
                </a:solidFill>
              </a:defRPr>
            </a:pPr>
            <a:r>
              <a:t>✔ User &amp; Developer Manual: </a:t>
            </a:r>
            <a:r>
              <a:rPr b="0">
                <a:solidFill>
                  <a:srgbClr val="334155"/>
                </a:solidFill>
              </a:rPr>
              <a:t>Complete guide (`docs/USER_MANUAL.md`) covering prerequisites, installation, CLI usage, configuration schemas, and video script.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1000" b="1">
                <a:solidFill>
                  <a:srgbClr val="0284C7"/>
                </a:solidFill>
              </a:defRPr>
            </a:pPr>
            <a:r>
              <a:t>SUMMARY &amp; CONCLUSION</a:t>
            </a:r>
          </a:p>
          <a:p>
            <a:pPr>
              <a:spcAft>
                <a:spcPts val="200"/>
              </a:spcAft>
              <a:defRPr sz="2200" b="1">
                <a:solidFill>
                  <a:srgbClr val="0F172A"/>
                </a:solidFill>
              </a:defRPr>
            </a:pPr>
            <a:r>
              <a:t>Conclusion &amp; Future Technological Roadmap</a:t>
            </a:r>
          </a:p>
          <a:p>
            <a:pPr>
              <a:defRPr sz="1200">
                <a:solidFill>
                  <a:srgbClr val="64748B"/>
                </a:solidFill>
              </a:defRPr>
            </a:pPr>
            <a:r>
              <a:t>Transforming optical communications from specialized laboratory hardware into accessible software platforms</a:t>
            </a:r>
          </a:p>
        </p:txBody>
      </p:sp>
      <p:sp>
        <p:nvSpPr>
          <p:cNvPr id="4" name="TextBox 3"/>
          <p:cNvSpPr txBox="1"/>
          <p:nvPr/>
        </p:nvSpPr>
        <p:spPr>
          <a:xfrm>
            <a:off x="731520" y="6446520"/>
            <a:ext cx="10728655" cy="274320"/>
          </a:xfrm>
          <a:prstGeom prst="rect">
            <a:avLst/>
          </a:prstGeom>
          <a:noFill/>
        </p:spPr>
        <p:txBody>
          <a:bodyPr wrap="square">
            <a:spAutoFit/>
          </a:bodyPr>
          <a:lstStyle/>
          <a:p>
            <a:pPr>
              <a:defRPr sz="900">
                <a:solidFill>
                  <a:srgbClr val="64748B"/>
                </a:solidFill>
              </a:defRPr>
            </a:pPr>
            <a:r>
              <a:t>OptiLign — Next-Gen Free-Space Optical Communication PAT Simulator  |  Confidential &amp; Proprietary</a:t>
            </a:r>
          </a:p>
        </p:txBody>
      </p:sp>
      <p:sp>
        <p:nvSpPr>
          <p:cNvPr id="5" name="Rounded Rectangle 4"/>
          <p:cNvSpPr/>
          <p:nvPr/>
        </p:nvSpPr>
        <p:spPr>
          <a:xfrm>
            <a:off x="731520" y="1554480"/>
            <a:ext cx="52120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37360"/>
            <a:ext cx="4754880" cy="411480"/>
          </a:xfrm>
          <a:prstGeom prst="rect">
            <a:avLst/>
          </a:prstGeom>
          <a:noFill/>
        </p:spPr>
        <p:txBody>
          <a:bodyPr wrap="square" lIns="0" tIns="0" rIns="0" bIns="0">
            <a:spAutoFit/>
          </a:bodyPr>
          <a:lstStyle/>
          <a:p>
            <a:pPr>
              <a:defRPr sz="1400" b="1">
                <a:solidFill>
                  <a:srgbClr val="0F172A"/>
                </a:solidFill>
              </a:defRPr>
            </a:pPr>
            <a:r>
              <a:t>Project Summary &amp; Milestones</a:t>
            </a:r>
          </a:p>
        </p:txBody>
      </p:sp>
      <p:sp>
        <p:nvSpPr>
          <p:cNvPr id="7" name="TextBox 6"/>
          <p:cNvSpPr txBox="1"/>
          <p:nvPr/>
        </p:nvSpPr>
        <p:spPr>
          <a:xfrm>
            <a:off x="960120" y="2148840"/>
            <a:ext cx="4754880" cy="3840480"/>
          </a:xfrm>
          <a:prstGeom prst="rect">
            <a:avLst/>
          </a:prstGeom>
          <a:noFill/>
        </p:spPr>
        <p:txBody>
          <a:bodyPr wrap="square" lIns="0" tIns="0" rIns="0" bIns="0">
            <a:spAutoFit/>
          </a:bodyPr>
          <a:lstStyle/>
          <a:p>
            <a:pPr>
              <a:spcBef>
                <a:spcPts val="800"/>
              </a:spcBef>
              <a:defRPr b="1" sz="1100">
                <a:solidFill>
                  <a:srgbClr val="10B981"/>
                </a:solidFill>
              </a:defRPr>
            </a:pPr>
            <a:r>
              <a:t>✔ Validated High-Fidelity Physics: </a:t>
            </a:r>
            <a:r>
              <a:rPr b="0">
                <a:solidFill>
                  <a:srgbClr val="334155"/>
                </a:solidFill>
              </a:rPr>
              <a:t>Successfully modeled end-to-end FSOC optical physics, including Kolmogorov turbulence, scintillation, and multi-harmonic platform vibration.</a:t>
            </a:r>
          </a:p>
          <a:p>
            <a:pPr>
              <a:spcBef>
                <a:spcPts val="800"/>
              </a:spcBef>
              <a:defRPr b="1" sz="1100">
                <a:solidFill>
                  <a:srgbClr val="10B981"/>
                </a:solidFill>
              </a:defRPr>
            </a:pPr>
            <a:r>
              <a:t>✔ Sub-Micro-Radian Accuracy: </a:t>
            </a:r>
            <a:r>
              <a:rPr b="0">
                <a:solidFill>
                  <a:srgbClr val="334155"/>
                </a:solidFill>
              </a:rPr>
              <a:t>Dual-stage cooperative control suppresses tracking error to 0.020 µrad, maintaining reliable laser links under mobile platform motion.</a:t>
            </a:r>
          </a:p>
          <a:p>
            <a:pPr>
              <a:spcBef>
                <a:spcPts val="800"/>
              </a:spcBef>
              <a:defRPr b="1" sz="1100">
                <a:solidFill>
                  <a:srgbClr val="10B981"/>
                </a:solidFill>
              </a:defRPr>
            </a:pPr>
            <a:r>
              <a:t>✔ Autonomous Operation: </a:t>
            </a:r>
            <a:r>
              <a:rPr b="0">
                <a:solidFill>
                  <a:srgbClr val="334155"/>
                </a:solidFill>
              </a:rPr>
              <a:t>Self-governing 5-state supervisory PAT state machine with rapid spiral search and &lt; 0.15 s reacquisition.</a:t>
            </a:r>
          </a:p>
          <a:p>
            <a:pPr>
              <a:spcBef>
                <a:spcPts val="800"/>
              </a:spcBef>
              <a:defRPr b="1" sz="1100">
                <a:solidFill>
                  <a:srgbClr val="10B981"/>
                </a:solidFill>
              </a:defRPr>
            </a:pPr>
            <a:r>
              <a:t>✔ Production Usability: </a:t>
            </a:r>
            <a:r>
              <a:rPr b="0">
                <a:solidFill>
                  <a:srgbClr val="334155"/>
                </a:solidFill>
              </a:rPr>
              <a:t>Zero-install real-time Web dashboard, 3D city environment with multi-target tracking, and automated performance analytics.</a:t>
            </a:r>
          </a:p>
        </p:txBody>
      </p:sp>
      <p:sp>
        <p:nvSpPr>
          <p:cNvPr id="8" name="Rounded Rectangle 7"/>
          <p:cNvSpPr/>
          <p:nvPr/>
        </p:nvSpPr>
        <p:spPr>
          <a:xfrm>
            <a:off x="6217920" y="1554480"/>
            <a:ext cx="52120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37360"/>
            <a:ext cx="4754880" cy="411480"/>
          </a:xfrm>
          <a:prstGeom prst="rect">
            <a:avLst/>
          </a:prstGeom>
          <a:noFill/>
        </p:spPr>
        <p:txBody>
          <a:bodyPr wrap="square" lIns="0" tIns="0" rIns="0" bIns="0">
            <a:spAutoFit/>
          </a:bodyPr>
          <a:lstStyle/>
          <a:p>
            <a:pPr>
              <a:defRPr sz="1400" b="1">
                <a:solidFill>
                  <a:srgbClr val="0F172A"/>
                </a:solidFill>
              </a:defRPr>
            </a:pPr>
            <a:r>
              <a:t>Future Research &amp; Expansion</a:t>
            </a:r>
          </a:p>
        </p:txBody>
      </p:sp>
      <p:sp>
        <p:nvSpPr>
          <p:cNvPr id="10" name="TextBox 9"/>
          <p:cNvSpPr txBox="1"/>
          <p:nvPr/>
        </p:nvSpPr>
        <p:spPr>
          <a:xfrm>
            <a:off x="6446520" y="2148840"/>
            <a:ext cx="4754880" cy="3840480"/>
          </a:xfrm>
          <a:prstGeom prst="rect">
            <a:avLst/>
          </a:prstGeom>
          <a:noFill/>
        </p:spPr>
        <p:txBody>
          <a:bodyPr wrap="square" lIns="0" tIns="0" rIns="0" bIns="0">
            <a:spAutoFit/>
          </a:bodyPr>
          <a:lstStyle/>
          <a:p>
            <a:pPr>
              <a:spcBef>
                <a:spcPts val="800"/>
              </a:spcBef>
              <a:defRPr b="1" sz="1100">
                <a:solidFill>
                  <a:srgbClr val="0284C7"/>
                </a:solidFill>
              </a:defRPr>
            </a:pPr>
            <a:r>
              <a:t>🚀 Deep Reinforcement Learning (DRL): </a:t>
            </a:r>
            <a:r>
              <a:rPr b="0">
                <a:solidFill>
                  <a:srgbClr val="334155"/>
                </a:solidFill>
              </a:rPr>
              <a:t>Developing neural adaptive PAT policies to predict evasive UAV swarm manoeuvres and non-linear aerodynamic wake vortices.</a:t>
            </a:r>
          </a:p>
          <a:p>
            <a:pPr>
              <a:spcBef>
                <a:spcPts val="800"/>
              </a:spcBef>
              <a:defRPr b="1" sz="1100">
                <a:solidFill>
                  <a:srgbClr val="0284C7"/>
                </a:solidFill>
              </a:defRPr>
            </a:pPr>
            <a:r>
              <a:t>🚀 Hardware-in-the-Loop (HIL) Integration: </a:t>
            </a:r>
            <a:r>
              <a:rPr b="0">
                <a:solidFill>
                  <a:srgbClr val="334155"/>
                </a:solidFill>
              </a:rPr>
              <a:t>Interfacing OptiLign via PCIe/Ethernet to real FPGA boards (Xilinx UltraScale+) and laboratory gimbal test fixtures.</a:t>
            </a:r>
          </a:p>
          <a:p>
            <a:pPr>
              <a:spcBef>
                <a:spcPts val="800"/>
              </a:spcBef>
              <a:defRPr b="1" sz="1100">
                <a:solidFill>
                  <a:srgbClr val="0284C7"/>
                </a:solidFill>
              </a:defRPr>
            </a:pPr>
            <a:r>
              <a:t>🚀 Quantum Key Distribution (QKD) Pointing: </a:t>
            </a:r>
            <a:r>
              <a:rPr b="0">
                <a:solidFill>
                  <a:srgbClr val="334155"/>
                </a:solidFill>
              </a:rPr>
              <a:t>Extending pointing fidelity to single-photon QKD channels where detector dark counts and spatial filtering demand sub-10 nrad alignment.</a:t>
            </a:r>
          </a:p>
          <a:p>
            <a:pPr>
              <a:spcBef>
                <a:spcPts val="800"/>
              </a:spcBef>
              <a:defRPr b="1" sz="1100">
                <a:solidFill>
                  <a:srgbClr val="0284C7"/>
                </a:solidFill>
              </a:defRPr>
            </a:pPr>
            <a:r>
              <a:t>🚀 Distributed Swarm Mesh Networking: </a:t>
            </a:r>
            <a:r>
              <a:rPr b="0">
                <a:solidFill>
                  <a:srgbClr val="334155"/>
                </a:solidFill>
              </a:rPr>
              <a:t>Multi-agent cooperative relaying where swarms of UAVs coordinate mutual line-of-sight tracking simultaneously.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